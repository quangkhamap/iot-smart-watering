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2" r:id="rId7"/>
    <p:sldId id="263"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2004AE-1790-4C74-BDA3-A23692484338}" v="1" dt="2026-06-22T05:18:45.8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60"/>
  </p:normalViewPr>
  <p:slideViewPr>
    <p:cSldViewPr snapToGrid="0">
      <p:cViewPr varScale="1">
        <p:scale>
          <a:sx n="105" d="100"/>
          <a:sy n="105" d="100"/>
        </p:scale>
        <p:origin x="82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ang Kha Tran" userId="e6c742cebddd6f14" providerId="LiveId" clId="{E9C90DC3-7957-4E58-89AA-54BDE10344C6}"/>
    <pc:docChg chg="custSel delSld modSld">
      <pc:chgData name="Quang Kha Tran" userId="e6c742cebddd6f14" providerId="LiveId" clId="{E9C90DC3-7957-4E58-89AA-54BDE10344C6}" dt="2026-06-22T05:47:12.790" v="197" actId="1076"/>
      <pc:docMkLst>
        <pc:docMk/>
      </pc:docMkLst>
      <pc:sldChg chg="addSp delSp modSp mod">
        <pc:chgData name="Quang Kha Tran" userId="e6c742cebddd6f14" providerId="LiveId" clId="{E9C90DC3-7957-4E58-89AA-54BDE10344C6}" dt="2026-06-22T05:19:07.866" v="109" actId="113"/>
        <pc:sldMkLst>
          <pc:docMk/>
          <pc:sldMk cId="0" sldId="256"/>
        </pc:sldMkLst>
        <pc:spChg chg="mod">
          <ac:chgData name="Quang Kha Tran" userId="e6c742cebddd6f14" providerId="LiveId" clId="{E9C90DC3-7957-4E58-89AA-54BDE10344C6}" dt="2026-06-22T05:19:07.866" v="109" actId="113"/>
          <ac:spMkLst>
            <pc:docMk/>
            <pc:sldMk cId="0" sldId="256"/>
            <ac:spMk id="44" creationId="{00000000-0000-0000-0000-000000000000}"/>
          </ac:spMkLst>
        </pc:spChg>
        <pc:spChg chg="add del">
          <ac:chgData name="Quang Kha Tran" userId="e6c742cebddd6f14" providerId="LiveId" clId="{E9C90DC3-7957-4E58-89AA-54BDE10344C6}" dt="2026-06-22T05:18:51.963" v="98" actId="478"/>
          <ac:spMkLst>
            <pc:docMk/>
            <pc:sldMk cId="0" sldId="256"/>
            <ac:spMk id="47" creationId="{9E634A89-E3EB-E0B9-23C6-65234322D847}"/>
          </ac:spMkLst>
        </pc:spChg>
        <pc:graphicFrameChg chg="add mod">
          <ac:chgData name="Quang Kha Tran" userId="e6c742cebddd6f14" providerId="LiveId" clId="{E9C90DC3-7957-4E58-89AA-54BDE10344C6}" dt="2026-06-22T05:18:45.833" v="97"/>
          <ac:graphicFrameMkLst>
            <pc:docMk/>
            <pc:sldMk cId="0" sldId="256"/>
            <ac:graphicFrameMk id="45" creationId="{C3A15F2B-B99F-599F-CB02-87A8AF355275}"/>
          </ac:graphicFrameMkLst>
        </pc:graphicFrameChg>
        <pc:picChg chg="add del">
          <ac:chgData name="Quang Kha Tran" userId="e6c742cebddd6f14" providerId="LiveId" clId="{E9C90DC3-7957-4E58-89AA-54BDE10344C6}" dt="2026-06-22T05:18:51.963" v="98" actId="478"/>
          <ac:picMkLst>
            <pc:docMk/>
            <pc:sldMk cId="0" sldId="256"/>
            <ac:picMk id="48" creationId="{C2063406-1A0B-7DD2-2C99-58F1F04AAF3C}"/>
          </ac:picMkLst>
        </pc:picChg>
      </pc:sldChg>
      <pc:sldChg chg="modSp mod">
        <pc:chgData name="Quang Kha Tran" userId="e6c742cebddd6f14" providerId="LiveId" clId="{E9C90DC3-7957-4E58-89AA-54BDE10344C6}" dt="2026-06-22T05:21:50.776" v="110" actId="26606"/>
        <pc:sldMkLst>
          <pc:docMk/>
          <pc:sldMk cId="0" sldId="257"/>
        </pc:sldMkLst>
        <pc:spChg chg="mod">
          <ac:chgData name="Quang Kha Tran" userId="e6c742cebddd6f14" providerId="LiveId" clId="{E9C90DC3-7957-4E58-89AA-54BDE10344C6}" dt="2026-06-22T05:21:50.776" v="110" actId="26606"/>
          <ac:spMkLst>
            <pc:docMk/>
            <pc:sldMk cId="0" sldId="257"/>
            <ac:spMk id="27" creationId="{00000000-0000-0000-0000-000000000000}"/>
          </ac:spMkLst>
        </pc:spChg>
      </pc:sldChg>
      <pc:sldChg chg="delSp modSp mod">
        <pc:chgData name="Quang Kha Tran" userId="e6c742cebddd6f14" providerId="LiveId" clId="{E9C90DC3-7957-4E58-89AA-54BDE10344C6}" dt="2026-06-22T05:45:24.305" v="166" actId="20577"/>
        <pc:sldMkLst>
          <pc:docMk/>
          <pc:sldMk cId="0" sldId="258"/>
        </pc:sldMkLst>
        <pc:spChg chg="mod">
          <ac:chgData name="Quang Kha Tran" userId="e6c742cebddd6f14" providerId="LiveId" clId="{E9C90DC3-7957-4E58-89AA-54BDE10344C6}" dt="2026-06-22T05:45:13.127" v="129" actId="20577"/>
          <ac:spMkLst>
            <pc:docMk/>
            <pc:sldMk cId="0" sldId="258"/>
            <ac:spMk id="13" creationId="{00000000-0000-0000-0000-000000000000}"/>
          </ac:spMkLst>
        </pc:spChg>
        <pc:spChg chg="del">
          <ac:chgData name="Quang Kha Tran" userId="e6c742cebddd6f14" providerId="LiveId" clId="{E9C90DC3-7957-4E58-89AA-54BDE10344C6}" dt="2026-06-22T05:44:53.092" v="111" actId="478"/>
          <ac:spMkLst>
            <pc:docMk/>
            <pc:sldMk cId="0" sldId="258"/>
            <ac:spMk id="14" creationId="{00000000-0000-0000-0000-000000000000}"/>
          </ac:spMkLst>
        </pc:spChg>
        <pc:spChg chg="mod">
          <ac:chgData name="Quang Kha Tran" userId="e6c742cebddd6f14" providerId="LiveId" clId="{E9C90DC3-7957-4E58-89AA-54BDE10344C6}" dt="2026-06-22T05:45:24.305" v="166" actId="20577"/>
          <ac:spMkLst>
            <pc:docMk/>
            <pc:sldMk cId="0" sldId="258"/>
            <ac:spMk id="15" creationId="{00000000-0000-0000-0000-000000000000}"/>
          </ac:spMkLst>
        </pc:spChg>
        <pc:spChg chg="mod">
          <ac:chgData name="Quang Kha Tran" userId="e6c742cebddd6f14" providerId="LiveId" clId="{E9C90DC3-7957-4E58-89AA-54BDE10344C6}" dt="2026-06-22T05:21:50.776" v="110" actId="26606"/>
          <ac:spMkLst>
            <pc:docMk/>
            <pc:sldMk cId="0" sldId="258"/>
            <ac:spMk id="17" creationId="{00000000-0000-0000-0000-000000000000}"/>
          </ac:spMkLst>
        </pc:spChg>
      </pc:sldChg>
      <pc:sldChg chg="modSp mod">
        <pc:chgData name="Quang Kha Tran" userId="e6c742cebddd6f14" providerId="LiveId" clId="{E9C90DC3-7957-4E58-89AA-54BDE10344C6}" dt="2026-06-22T05:21:50.776" v="110" actId="26606"/>
        <pc:sldMkLst>
          <pc:docMk/>
          <pc:sldMk cId="0" sldId="259"/>
        </pc:sldMkLst>
        <pc:spChg chg="mod">
          <ac:chgData name="Quang Kha Tran" userId="e6c742cebddd6f14" providerId="LiveId" clId="{E9C90DC3-7957-4E58-89AA-54BDE10344C6}" dt="2026-06-22T05:21:50.776" v="110" actId="26606"/>
          <ac:spMkLst>
            <pc:docMk/>
            <pc:sldMk cId="0" sldId="259"/>
            <ac:spMk id="46" creationId="{00000000-0000-0000-0000-000000000000}"/>
          </ac:spMkLst>
        </pc:spChg>
      </pc:sldChg>
      <pc:sldChg chg="modSp mod">
        <pc:chgData name="Quang Kha Tran" userId="e6c742cebddd6f14" providerId="LiveId" clId="{E9C90DC3-7957-4E58-89AA-54BDE10344C6}" dt="2026-06-22T05:21:50.776" v="110" actId="26606"/>
        <pc:sldMkLst>
          <pc:docMk/>
          <pc:sldMk cId="0" sldId="260"/>
        </pc:sldMkLst>
        <pc:spChg chg="mod">
          <ac:chgData name="Quang Kha Tran" userId="e6c742cebddd6f14" providerId="LiveId" clId="{E9C90DC3-7957-4E58-89AA-54BDE10344C6}" dt="2026-06-22T05:21:50.776" v="110" actId="26606"/>
          <ac:spMkLst>
            <pc:docMk/>
            <pc:sldMk cId="0" sldId="260"/>
            <ac:spMk id="32" creationId="{00000000-0000-0000-0000-000000000000}"/>
          </ac:spMkLst>
        </pc:spChg>
        <pc:spChg chg="mod">
          <ac:chgData name="Quang Kha Tran" userId="e6c742cebddd6f14" providerId="LiveId" clId="{E9C90DC3-7957-4E58-89AA-54BDE10344C6}" dt="2026-06-22T05:21:50.776" v="110" actId="26606"/>
          <ac:spMkLst>
            <pc:docMk/>
            <pc:sldMk cId="0" sldId="260"/>
            <ac:spMk id="38" creationId="{00000000-0000-0000-0000-000000000000}"/>
          </ac:spMkLst>
        </pc:spChg>
      </pc:sldChg>
      <pc:sldChg chg="del">
        <pc:chgData name="Quang Kha Tran" userId="e6c742cebddd6f14" providerId="LiveId" clId="{E9C90DC3-7957-4E58-89AA-54BDE10344C6}" dt="2026-06-22T05:21:50.776" v="110" actId="26606"/>
        <pc:sldMkLst>
          <pc:docMk/>
          <pc:sldMk cId="0" sldId="261"/>
        </pc:sldMkLst>
      </pc:sldChg>
      <pc:sldChg chg="modSp mod modNotes">
        <pc:chgData name="Quang Kha Tran" userId="e6c742cebddd6f14" providerId="LiveId" clId="{E9C90DC3-7957-4E58-89AA-54BDE10344C6}" dt="2026-06-22T05:47:12.790" v="197" actId="1076"/>
        <pc:sldMkLst>
          <pc:docMk/>
          <pc:sldMk cId="0" sldId="262"/>
        </pc:sldMkLst>
        <pc:spChg chg="mod">
          <ac:chgData name="Quang Kha Tran" userId="e6c742cebddd6f14" providerId="LiveId" clId="{E9C90DC3-7957-4E58-89AA-54BDE10344C6}" dt="2026-06-22T05:47:12.790" v="197" actId="1076"/>
          <ac:spMkLst>
            <pc:docMk/>
            <pc:sldMk cId="0" sldId="262"/>
            <ac:spMk id="13" creationId="{00000000-0000-0000-0000-000000000000}"/>
          </ac:spMkLst>
        </pc:spChg>
        <pc:spChg chg="mod">
          <ac:chgData name="Quang Kha Tran" userId="e6c742cebddd6f14" providerId="LiveId" clId="{E9C90DC3-7957-4E58-89AA-54BDE10344C6}" dt="2026-06-22T05:21:50.776" v="110" actId="26606"/>
          <ac:spMkLst>
            <pc:docMk/>
            <pc:sldMk cId="0" sldId="262"/>
            <ac:spMk id="15" creationId="{00000000-0000-0000-0000-000000000000}"/>
          </ac:spMkLst>
        </pc:spChg>
      </pc:sldChg>
      <pc:sldChg chg="modSp mod modNotes">
        <pc:chgData name="Quang Kha Tran" userId="e6c742cebddd6f14" providerId="LiveId" clId="{E9C90DC3-7957-4E58-89AA-54BDE10344C6}" dt="2026-06-22T05:21:50.776" v="110" actId="26606"/>
        <pc:sldMkLst>
          <pc:docMk/>
          <pc:sldMk cId="0" sldId="263"/>
        </pc:sldMkLst>
        <pc:spChg chg="mod">
          <ac:chgData name="Quang Kha Tran" userId="e6c742cebddd6f14" providerId="LiveId" clId="{E9C90DC3-7957-4E58-89AA-54BDE10344C6}" dt="2026-06-22T05:21:50.776" v="110" actId="26606"/>
          <ac:spMkLst>
            <pc:docMk/>
            <pc:sldMk cId="0" sldId="263"/>
            <ac:spMk id="24" creationId="{00000000-0000-0000-0000-000000000000}"/>
          </ac:spMkLst>
        </pc:spChg>
        <pc:spChg chg="mod">
          <ac:chgData name="Quang Kha Tran" userId="e6c742cebddd6f14" providerId="LiveId" clId="{E9C90DC3-7957-4E58-89AA-54BDE10344C6}" dt="2026-06-22T05:21:50.776" v="110" actId="26606"/>
          <ac:spMkLst>
            <pc:docMk/>
            <pc:sldMk cId="0" sldId="263"/>
            <ac:spMk id="2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 will present the final progress report of our IoT Smart Watering System project. The goal of this project is to create a simple automatic watering system that can monitor soil moisture and control a water pump based on the moisture condition.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objective of our project is to reduce manual watering. The system reads soil moisture data, processes it with the ESP32, and controls the pump automatically. We also added a display so users can directly see the soil moisture value and the pump status.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hardware, we used an ESP32 as the main controller. The soil moisture sensor is used to measure the moisture level. The relay controls the water pump. We also added a display screen to show the moisture value and the ON/OFF status. For power, we used a battery holder with a switch and connected it through a voltage converter to supply the ESP32 safely.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of the system is simple. First, the ESP32 receives soil moisture data. Then, it compares the value with a threshold. If the soil is dry, the relay is activated and the pump turns on. If the soil is wet enough, the pump stays off. The display shows the current moisture value and the pump status so the user can monitor the system easily.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stage, most of the project has been completed. We connected the ESP32, relay, pump, display, power source, and other components together. The pump can be controlled based on moisture data, and the screen can display both the moisture value and the ON/OFF status. We have also connected the Blynk dashboard so the soil moisture and pump status can be monitored remotely. The system is able to demonstrate the main automatic watering logic.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final improvement, we may send the system data to the Blynk dashboard. This would allow users to monitor the soil moisture and pump status from a phone or computer. In the future, we also want to add a water level sensor for the tank and improve the design of the control box to make the project cleaner and more practical.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our project successfully demonstrates the main idea of an IoT automatic watering system. The ESP32 can process moisture data, display the value, and control the pump automatically. </a:t>
            </a:r>
            <a:r>
              <a:rPr lang="en-US"/>
              <a:t>The </a:t>
            </a:r>
            <a:r>
              <a:rPr lang="en-US" dirty="0"/>
              <a:t>soil moisture sensor </a:t>
            </a:r>
            <a:r>
              <a:rPr lang="en-US"/>
              <a:t>is now working reliably</a:t>
            </a:r>
            <a:r>
              <a:rPr lang="en-US" dirty="0"/>
              <a:t>, the system logic is working correctly</a:t>
            </a:r>
            <a:r>
              <a:rPr lang="en-US"/>
              <a:t>,</a:t>
            </a:r>
            <a:r>
              <a:rPr lang="en-US" dirty="0"/>
              <a:t> and the project is almost complete.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4620940"/>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EA5C4"/>
          </a:solidFill>
          <a:ln/>
        </p:spPr>
        <p:txBody>
          <a:bodyPr/>
          <a:lstStyle/>
          <a:p>
            <a:endParaRPr lang="vi-VN"/>
          </a:p>
        </p:txBody>
      </p:sp>
      <p:sp>
        <p:nvSpPr>
          <p:cNvPr id="3" name="Shape 1"/>
          <p:cNvSpPr/>
          <p:nvPr/>
        </p:nvSpPr>
        <p:spPr>
          <a:xfrm>
            <a:off x="8869680" y="146304"/>
            <a:ext cx="3322015" cy="6711696"/>
          </a:xfrm>
          <a:prstGeom prst="rect">
            <a:avLst/>
          </a:prstGeom>
          <a:solidFill>
            <a:srgbClr val="0A1F38"/>
          </a:solidFill>
          <a:ln/>
        </p:spPr>
        <p:txBody>
          <a:bodyPr/>
          <a:lstStyle/>
          <a:p>
            <a:endParaRPr lang="vi-VN"/>
          </a:p>
        </p:txBody>
      </p:sp>
      <p:sp>
        <p:nvSpPr>
          <p:cNvPr id="4" name="Shape 2"/>
          <p:cNvSpPr/>
          <p:nvPr/>
        </p:nvSpPr>
        <p:spPr>
          <a:xfrm>
            <a:off x="9326880" y="777240"/>
            <a:ext cx="73152" cy="73152"/>
          </a:xfrm>
          <a:prstGeom prst="ellipse">
            <a:avLst/>
          </a:prstGeom>
          <a:solidFill>
            <a:srgbClr val="163C63"/>
          </a:solidFill>
          <a:ln/>
        </p:spPr>
        <p:txBody>
          <a:bodyPr/>
          <a:lstStyle/>
          <a:p>
            <a:endParaRPr lang="vi-VN"/>
          </a:p>
        </p:txBody>
      </p:sp>
      <p:sp>
        <p:nvSpPr>
          <p:cNvPr id="5" name="Shape 3"/>
          <p:cNvSpPr/>
          <p:nvPr/>
        </p:nvSpPr>
        <p:spPr>
          <a:xfrm>
            <a:off x="10040112" y="777240"/>
            <a:ext cx="73152" cy="73152"/>
          </a:xfrm>
          <a:prstGeom prst="ellipse">
            <a:avLst/>
          </a:prstGeom>
          <a:solidFill>
            <a:srgbClr val="163C63"/>
          </a:solidFill>
          <a:ln/>
        </p:spPr>
        <p:txBody>
          <a:bodyPr/>
          <a:lstStyle/>
          <a:p>
            <a:endParaRPr lang="vi-VN"/>
          </a:p>
        </p:txBody>
      </p:sp>
      <p:sp>
        <p:nvSpPr>
          <p:cNvPr id="6" name="Shape 4"/>
          <p:cNvSpPr/>
          <p:nvPr/>
        </p:nvSpPr>
        <p:spPr>
          <a:xfrm>
            <a:off x="10753344" y="777240"/>
            <a:ext cx="73152" cy="73152"/>
          </a:xfrm>
          <a:prstGeom prst="ellipse">
            <a:avLst/>
          </a:prstGeom>
          <a:solidFill>
            <a:srgbClr val="163C63"/>
          </a:solidFill>
          <a:ln/>
        </p:spPr>
        <p:txBody>
          <a:bodyPr/>
          <a:lstStyle/>
          <a:p>
            <a:endParaRPr lang="vi-VN"/>
          </a:p>
        </p:txBody>
      </p:sp>
      <p:sp>
        <p:nvSpPr>
          <p:cNvPr id="7" name="Shape 5"/>
          <p:cNvSpPr/>
          <p:nvPr/>
        </p:nvSpPr>
        <p:spPr>
          <a:xfrm>
            <a:off x="11466576" y="777240"/>
            <a:ext cx="73152" cy="73152"/>
          </a:xfrm>
          <a:prstGeom prst="ellipse">
            <a:avLst/>
          </a:prstGeom>
          <a:solidFill>
            <a:srgbClr val="163C63"/>
          </a:solidFill>
          <a:ln/>
        </p:spPr>
        <p:txBody>
          <a:bodyPr/>
          <a:lstStyle/>
          <a:p>
            <a:endParaRPr lang="vi-VN"/>
          </a:p>
        </p:txBody>
      </p:sp>
      <p:sp>
        <p:nvSpPr>
          <p:cNvPr id="8" name="Shape 6"/>
          <p:cNvSpPr/>
          <p:nvPr/>
        </p:nvSpPr>
        <p:spPr>
          <a:xfrm>
            <a:off x="9326880" y="1435608"/>
            <a:ext cx="73152" cy="73152"/>
          </a:xfrm>
          <a:prstGeom prst="ellipse">
            <a:avLst/>
          </a:prstGeom>
          <a:solidFill>
            <a:srgbClr val="163C63"/>
          </a:solidFill>
          <a:ln/>
        </p:spPr>
        <p:txBody>
          <a:bodyPr/>
          <a:lstStyle/>
          <a:p>
            <a:endParaRPr lang="vi-VN"/>
          </a:p>
        </p:txBody>
      </p:sp>
      <p:sp>
        <p:nvSpPr>
          <p:cNvPr id="9" name="Shape 7"/>
          <p:cNvSpPr/>
          <p:nvPr/>
        </p:nvSpPr>
        <p:spPr>
          <a:xfrm>
            <a:off x="10040112" y="1435608"/>
            <a:ext cx="73152" cy="73152"/>
          </a:xfrm>
          <a:prstGeom prst="ellipse">
            <a:avLst/>
          </a:prstGeom>
          <a:solidFill>
            <a:srgbClr val="163C63"/>
          </a:solidFill>
          <a:ln/>
        </p:spPr>
        <p:txBody>
          <a:bodyPr/>
          <a:lstStyle/>
          <a:p>
            <a:endParaRPr lang="vi-VN"/>
          </a:p>
        </p:txBody>
      </p:sp>
      <p:sp>
        <p:nvSpPr>
          <p:cNvPr id="10" name="Shape 8"/>
          <p:cNvSpPr/>
          <p:nvPr/>
        </p:nvSpPr>
        <p:spPr>
          <a:xfrm>
            <a:off x="10753344" y="1435608"/>
            <a:ext cx="73152" cy="73152"/>
          </a:xfrm>
          <a:prstGeom prst="ellipse">
            <a:avLst/>
          </a:prstGeom>
          <a:solidFill>
            <a:srgbClr val="163C63"/>
          </a:solidFill>
          <a:ln/>
        </p:spPr>
        <p:txBody>
          <a:bodyPr/>
          <a:lstStyle/>
          <a:p>
            <a:endParaRPr lang="vi-VN"/>
          </a:p>
        </p:txBody>
      </p:sp>
      <p:sp>
        <p:nvSpPr>
          <p:cNvPr id="11" name="Shape 9"/>
          <p:cNvSpPr/>
          <p:nvPr/>
        </p:nvSpPr>
        <p:spPr>
          <a:xfrm>
            <a:off x="11466576" y="1435608"/>
            <a:ext cx="73152" cy="73152"/>
          </a:xfrm>
          <a:prstGeom prst="ellipse">
            <a:avLst/>
          </a:prstGeom>
          <a:solidFill>
            <a:srgbClr val="163C63"/>
          </a:solidFill>
          <a:ln/>
        </p:spPr>
        <p:txBody>
          <a:bodyPr/>
          <a:lstStyle/>
          <a:p>
            <a:endParaRPr lang="vi-VN"/>
          </a:p>
        </p:txBody>
      </p:sp>
      <p:sp>
        <p:nvSpPr>
          <p:cNvPr id="12" name="Shape 10"/>
          <p:cNvSpPr/>
          <p:nvPr/>
        </p:nvSpPr>
        <p:spPr>
          <a:xfrm>
            <a:off x="9326880" y="2093976"/>
            <a:ext cx="73152" cy="73152"/>
          </a:xfrm>
          <a:prstGeom prst="ellipse">
            <a:avLst/>
          </a:prstGeom>
          <a:solidFill>
            <a:srgbClr val="163C63"/>
          </a:solidFill>
          <a:ln/>
        </p:spPr>
        <p:txBody>
          <a:bodyPr/>
          <a:lstStyle/>
          <a:p>
            <a:endParaRPr lang="vi-VN"/>
          </a:p>
        </p:txBody>
      </p:sp>
      <p:sp>
        <p:nvSpPr>
          <p:cNvPr id="13" name="Shape 11"/>
          <p:cNvSpPr/>
          <p:nvPr/>
        </p:nvSpPr>
        <p:spPr>
          <a:xfrm>
            <a:off x="10040112" y="2093976"/>
            <a:ext cx="73152" cy="73152"/>
          </a:xfrm>
          <a:prstGeom prst="ellipse">
            <a:avLst/>
          </a:prstGeom>
          <a:solidFill>
            <a:srgbClr val="163C63"/>
          </a:solidFill>
          <a:ln/>
        </p:spPr>
        <p:txBody>
          <a:bodyPr/>
          <a:lstStyle/>
          <a:p>
            <a:endParaRPr lang="vi-VN"/>
          </a:p>
        </p:txBody>
      </p:sp>
      <p:sp>
        <p:nvSpPr>
          <p:cNvPr id="14" name="Shape 12"/>
          <p:cNvSpPr/>
          <p:nvPr/>
        </p:nvSpPr>
        <p:spPr>
          <a:xfrm>
            <a:off x="10753344" y="2093976"/>
            <a:ext cx="73152" cy="73152"/>
          </a:xfrm>
          <a:prstGeom prst="ellipse">
            <a:avLst/>
          </a:prstGeom>
          <a:solidFill>
            <a:srgbClr val="163C63"/>
          </a:solidFill>
          <a:ln/>
        </p:spPr>
        <p:txBody>
          <a:bodyPr/>
          <a:lstStyle/>
          <a:p>
            <a:endParaRPr lang="vi-VN"/>
          </a:p>
        </p:txBody>
      </p:sp>
      <p:sp>
        <p:nvSpPr>
          <p:cNvPr id="15" name="Shape 13"/>
          <p:cNvSpPr/>
          <p:nvPr/>
        </p:nvSpPr>
        <p:spPr>
          <a:xfrm>
            <a:off x="11466576" y="2093976"/>
            <a:ext cx="73152" cy="73152"/>
          </a:xfrm>
          <a:prstGeom prst="ellipse">
            <a:avLst/>
          </a:prstGeom>
          <a:solidFill>
            <a:srgbClr val="163C63"/>
          </a:solidFill>
          <a:ln/>
        </p:spPr>
        <p:txBody>
          <a:bodyPr/>
          <a:lstStyle/>
          <a:p>
            <a:endParaRPr lang="vi-VN"/>
          </a:p>
        </p:txBody>
      </p:sp>
      <p:sp>
        <p:nvSpPr>
          <p:cNvPr id="16" name="Shape 14"/>
          <p:cNvSpPr/>
          <p:nvPr/>
        </p:nvSpPr>
        <p:spPr>
          <a:xfrm>
            <a:off x="9326880" y="2752344"/>
            <a:ext cx="73152" cy="73152"/>
          </a:xfrm>
          <a:prstGeom prst="ellipse">
            <a:avLst/>
          </a:prstGeom>
          <a:solidFill>
            <a:srgbClr val="163C63"/>
          </a:solidFill>
          <a:ln/>
        </p:spPr>
        <p:txBody>
          <a:bodyPr/>
          <a:lstStyle/>
          <a:p>
            <a:endParaRPr lang="vi-VN"/>
          </a:p>
        </p:txBody>
      </p:sp>
      <p:sp>
        <p:nvSpPr>
          <p:cNvPr id="17" name="Shape 15"/>
          <p:cNvSpPr/>
          <p:nvPr/>
        </p:nvSpPr>
        <p:spPr>
          <a:xfrm>
            <a:off x="10040112" y="2752344"/>
            <a:ext cx="73152" cy="73152"/>
          </a:xfrm>
          <a:prstGeom prst="ellipse">
            <a:avLst/>
          </a:prstGeom>
          <a:solidFill>
            <a:srgbClr val="163C63"/>
          </a:solidFill>
          <a:ln/>
        </p:spPr>
        <p:txBody>
          <a:bodyPr/>
          <a:lstStyle/>
          <a:p>
            <a:endParaRPr lang="vi-VN"/>
          </a:p>
        </p:txBody>
      </p:sp>
      <p:sp>
        <p:nvSpPr>
          <p:cNvPr id="18" name="Shape 16"/>
          <p:cNvSpPr/>
          <p:nvPr/>
        </p:nvSpPr>
        <p:spPr>
          <a:xfrm>
            <a:off x="10753344" y="2752344"/>
            <a:ext cx="73152" cy="73152"/>
          </a:xfrm>
          <a:prstGeom prst="ellipse">
            <a:avLst/>
          </a:prstGeom>
          <a:solidFill>
            <a:srgbClr val="163C63"/>
          </a:solidFill>
          <a:ln/>
        </p:spPr>
        <p:txBody>
          <a:bodyPr/>
          <a:lstStyle/>
          <a:p>
            <a:endParaRPr lang="vi-VN"/>
          </a:p>
        </p:txBody>
      </p:sp>
      <p:sp>
        <p:nvSpPr>
          <p:cNvPr id="19" name="Shape 17"/>
          <p:cNvSpPr/>
          <p:nvPr/>
        </p:nvSpPr>
        <p:spPr>
          <a:xfrm>
            <a:off x="11466576" y="2752344"/>
            <a:ext cx="73152" cy="73152"/>
          </a:xfrm>
          <a:prstGeom prst="ellipse">
            <a:avLst/>
          </a:prstGeom>
          <a:solidFill>
            <a:srgbClr val="163C63"/>
          </a:solidFill>
          <a:ln/>
        </p:spPr>
        <p:txBody>
          <a:bodyPr/>
          <a:lstStyle/>
          <a:p>
            <a:endParaRPr lang="vi-VN"/>
          </a:p>
        </p:txBody>
      </p:sp>
      <p:sp>
        <p:nvSpPr>
          <p:cNvPr id="20" name="Shape 18"/>
          <p:cNvSpPr/>
          <p:nvPr/>
        </p:nvSpPr>
        <p:spPr>
          <a:xfrm>
            <a:off x="9326880" y="3410712"/>
            <a:ext cx="73152" cy="73152"/>
          </a:xfrm>
          <a:prstGeom prst="ellipse">
            <a:avLst/>
          </a:prstGeom>
          <a:solidFill>
            <a:srgbClr val="163C63"/>
          </a:solidFill>
          <a:ln/>
        </p:spPr>
        <p:txBody>
          <a:bodyPr/>
          <a:lstStyle/>
          <a:p>
            <a:endParaRPr lang="vi-VN"/>
          </a:p>
        </p:txBody>
      </p:sp>
      <p:sp>
        <p:nvSpPr>
          <p:cNvPr id="21" name="Shape 19"/>
          <p:cNvSpPr/>
          <p:nvPr/>
        </p:nvSpPr>
        <p:spPr>
          <a:xfrm>
            <a:off x="10040112" y="3410712"/>
            <a:ext cx="73152" cy="73152"/>
          </a:xfrm>
          <a:prstGeom prst="ellipse">
            <a:avLst/>
          </a:prstGeom>
          <a:solidFill>
            <a:srgbClr val="163C63"/>
          </a:solidFill>
          <a:ln/>
        </p:spPr>
        <p:txBody>
          <a:bodyPr/>
          <a:lstStyle/>
          <a:p>
            <a:endParaRPr lang="vi-VN"/>
          </a:p>
        </p:txBody>
      </p:sp>
      <p:sp>
        <p:nvSpPr>
          <p:cNvPr id="22" name="Shape 20"/>
          <p:cNvSpPr/>
          <p:nvPr/>
        </p:nvSpPr>
        <p:spPr>
          <a:xfrm>
            <a:off x="10753344" y="3410712"/>
            <a:ext cx="73152" cy="73152"/>
          </a:xfrm>
          <a:prstGeom prst="ellipse">
            <a:avLst/>
          </a:prstGeom>
          <a:solidFill>
            <a:srgbClr val="163C63"/>
          </a:solidFill>
          <a:ln/>
        </p:spPr>
        <p:txBody>
          <a:bodyPr/>
          <a:lstStyle/>
          <a:p>
            <a:endParaRPr lang="vi-VN"/>
          </a:p>
        </p:txBody>
      </p:sp>
      <p:sp>
        <p:nvSpPr>
          <p:cNvPr id="23" name="Shape 21"/>
          <p:cNvSpPr/>
          <p:nvPr/>
        </p:nvSpPr>
        <p:spPr>
          <a:xfrm>
            <a:off x="11466576" y="3410712"/>
            <a:ext cx="73152" cy="73152"/>
          </a:xfrm>
          <a:prstGeom prst="ellipse">
            <a:avLst/>
          </a:prstGeom>
          <a:solidFill>
            <a:srgbClr val="163C63"/>
          </a:solidFill>
          <a:ln/>
        </p:spPr>
        <p:txBody>
          <a:bodyPr/>
          <a:lstStyle/>
          <a:p>
            <a:endParaRPr lang="vi-VN"/>
          </a:p>
        </p:txBody>
      </p:sp>
      <p:sp>
        <p:nvSpPr>
          <p:cNvPr id="24" name="Shape 22"/>
          <p:cNvSpPr/>
          <p:nvPr/>
        </p:nvSpPr>
        <p:spPr>
          <a:xfrm>
            <a:off x="9326880" y="4069080"/>
            <a:ext cx="73152" cy="73152"/>
          </a:xfrm>
          <a:prstGeom prst="ellipse">
            <a:avLst/>
          </a:prstGeom>
          <a:solidFill>
            <a:srgbClr val="163C63"/>
          </a:solidFill>
          <a:ln/>
        </p:spPr>
        <p:txBody>
          <a:bodyPr/>
          <a:lstStyle/>
          <a:p>
            <a:endParaRPr lang="vi-VN"/>
          </a:p>
        </p:txBody>
      </p:sp>
      <p:sp>
        <p:nvSpPr>
          <p:cNvPr id="25" name="Shape 23"/>
          <p:cNvSpPr/>
          <p:nvPr/>
        </p:nvSpPr>
        <p:spPr>
          <a:xfrm>
            <a:off x="10040112" y="4069080"/>
            <a:ext cx="73152" cy="73152"/>
          </a:xfrm>
          <a:prstGeom prst="ellipse">
            <a:avLst/>
          </a:prstGeom>
          <a:solidFill>
            <a:srgbClr val="163C63"/>
          </a:solidFill>
          <a:ln/>
        </p:spPr>
        <p:txBody>
          <a:bodyPr/>
          <a:lstStyle/>
          <a:p>
            <a:endParaRPr lang="vi-VN"/>
          </a:p>
        </p:txBody>
      </p:sp>
      <p:sp>
        <p:nvSpPr>
          <p:cNvPr id="26" name="Shape 24"/>
          <p:cNvSpPr/>
          <p:nvPr/>
        </p:nvSpPr>
        <p:spPr>
          <a:xfrm>
            <a:off x="10753344" y="4069080"/>
            <a:ext cx="73152" cy="73152"/>
          </a:xfrm>
          <a:prstGeom prst="ellipse">
            <a:avLst/>
          </a:prstGeom>
          <a:solidFill>
            <a:srgbClr val="163C63"/>
          </a:solidFill>
          <a:ln/>
        </p:spPr>
        <p:txBody>
          <a:bodyPr/>
          <a:lstStyle/>
          <a:p>
            <a:endParaRPr lang="vi-VN"/>
          </a:p>
        </p:txBody>
      </p:sp>
      <p:sp>
        <p:nvSpPr>
          <p:cNvPr id="27" name="Shape 25"/>
          <p:cNvSpPr/>
          <p:nvPr/>
        </p:nvSpPr>
        <p:spPr>
          <a:xfrm>
            <a:off x="11466576" y="4069080"/>
            <a:ext cx="73152" cy="73152"/>
          </a:xfrm>
          <a:prstGeom prst="ellipse">
            <a:avLst/>
          </a:prstGeom>
          <a:solidFill>
            <a:srgbClr val="163C63"/>
          </a:solidFill>
          <a:ln/>
        </p:spPr>
        <p:txBody>
          <a:bodyPr/>
          <a:lstStyle/>
          <a:p>
            <a:endParaRPr lang="vi-VN"/>
          </a:p>
        </p:txBody>
      </p:sp>
      <p:sp>
        <p:nvSpPr>
          <p:cNvPr id="28" name="Shape 26"/>
          <p:cNvSpPr/>
          <p:nvPr/>
        </p:nvSpPr>
        <p:spPr>
          <a:xfrm>
            <a:off x="9326880" y="4727448"/>
            <a:ext cx="73152" cy="73152"/>
          </a:xfrm>
          <a:prstGeom prst="ellipse">
            <a:avLst/>
          </a:prstGeom>
          <a:solidFill>
            <a:srgbClr val="163C63"/>
          </a:solidFill>
          <a:ln/>
        </p:spPr>
        <p:txBody>
          <a:bodyPr/>
          <a:lstStyle/>
          <a:p>
            <a:endParaRPr lang="vi-VN"/>
          </a:p>
        </p:txBody>
      </p:sp>
      <p:sp>
        <p:nvSpPr>
          <p:cNvPr id="29" name="Shape 27"/>
          <p:cNvSpPr/>
          <p:nvPr/>
        </p:nvSpPr>
        <p:spPr>
          <a:xfrm>
            <a:off x="10040112" y="4727448"/>
            <a:ext cx="73152" cy="73152"/>
          </a:xfrm>
          <a:prstGeom prst="ellipse">
            <a:avLst/>
          </a:prstGeom>
          <a:solidFill>
            <a:srgbClr val="163C63"/>
          </a:solidFill>
          <a:ln/>
        </p:spPr>
        <p:txBody>
          <a:bodyPr/>
          <a:lstStyle/>
          <a:p>
            <a:endParaRPr lang="vi-VN"/>
          </a:p>
        </p:txBody>
      </p:sp>
      <p:sp>
        <p:nvSpPr>
          <p:cNvPr id="30" name="Shape 28"/>
          <p:cNvSpPr/>
          <p:nvPr/>
        </p:nvSpPr>
        <p:spPr>
          <a:xfrm>
            <a:off x="10753344" y="4727448"/>
            <a:ext cx="73152" cy="73152"/>
          </a:xfrm>
          <a:prstGeom prst="ellipse">
            <a:avLst/>
          </a:prstGeom>
          <a:solidFill>
            <a:srgbClr val="163C63"/>
          </a:solidFill>
          <a:ln/>
        </p:spPr>
        <p:txBody>
          <a:bodyPr/>
          <a:lstStyle/>
          <a:p>
            <a:endParaRPr lang="vi-VN"/>
          </a:p>
        </p:txBody>
      </p:sp>
      <p:sp>
        <p:nvSpPr>
          <p:cNvPr id="31" name="Shape 29"/>
          <p:cNvSpPr/>
          <p:nvPr/>
        </p:nvSpPr>
        <p:spPr>
          <a:xfrm>
            <a:off x="11466576" y="4727448"/>
            <a:ext cx="73152" cy="73152"/>
          </a:xfrm>
          <a:prstGeom prst="ellipse">
            <a:avLst/>
          </a:prstGeom>
          <a:solidFill>
            <a:srgbClr val="163C63"/>
          </a:solidFill>
          <a:ln/>
        </p:spPr>
        <p:txBody>
          <a:bodyPr/>
          <a:lstStyle/>
          <a:p>
            <a:endParaRPr lang="vi-VN"/>
          </a:p>
        </p:txBody>
      </p:sp>
      <p:sp>
        <p:nvSpPr>
          <p:cNvPr id="32" name="Shape 30"/>
          <p:cNvSpPr/>
          <p:nvPr/>
        </p:nvSpPr>
        <p:spPr>
          <a:xfrm>
            <a:off x="9326880" y="5385816"/>
            <a:ext cx="73152" cy="73152"/>
          </a:xfrm>
          <a:prstGeom prst="ellipse">
            <a:avLst/>
          </a:prstGeom>
          <a:solidFill>
            <a:srgbClr val="163C63"/>
          </a:solidFill>
          <a:ln/>
        </p:spPr>
        <p:txBody>
          <a:bodyPr/>
          <a:lstStyle/>
          <a:p>
            <a:endParaRPr lang="vi-VN"/>
          </a:p>
        </p:txBody>
      </p:sp>
      <p:sp>
        <p:nvSpPr>
          <p:cNvPr id="33" name="Shape 31"/>
          <p:cNvSpPr/>
          <p:nvPr/>
        </p:nvSpPr>
        <p:spPr>
          <a:xfrm>
            <a:off x="10040112" y="5385816"/>
            <a:ext cx="73152" cy="73152"/>
          </a:xfrm>
          <a:prstGeom prst="ellipse">
            <a:avLst/>
          </a:prstGeom>
          <a:solidFill>
            <a:srgbClr val="163C63"/>
          </a:solidFill>
          <a:ln/>
        </p:spPr>
        <p:txBody>
          <a:bodyPr/>
          <a:lstStyle/>
          <a:p>
            <a:endParaRPr lang="vi-VN"/>
          </a:p>
        </p:txBody>
      </p:sp>
      <p:sp>
        <p:nvSpPr>
          <p:cNvPr id="34" name="Shape 32"/>
          <p:cNvSpPr/>
          <p:nvPr/>
        </p:nvSpPr>
        <p:spPr>
          <a:xfrm>
            <a:off x="10753344" y="5385816"/>
            <a:ext cx="73152" cy="73152"/>
          </a:xfrm>
          <a:prstGeom prst="ellipse">
            <a:avLst/>
          </a:prstGeom>
          <a:solidFill>
            <a:srgbClr val="163C63"/>
          </a:solidFill>
          <a:ln/>
        </p:spPr>
        <p:txBody>
          <a:bodyPr/>
          <a:lstStyle/>
          <a:p>
            <a:endParaRPr lang="vi-VN"/>
          </a:p>
        </p:txBody>
      </p:sp>
      <p:sp>
        <p:nvSpPr>
          <p:cNvPr id="35" name="Shape 33"/>
          <p:cNvSpPr/>
          <p:nvPr/>
        </p:nvSpPr>
        <p:spPr>
          <a:xfrm>
            <a:off x="11466576" y="5385816"/>
            <a:ext cx="73152" cy="73152"/>
          </a:xfrm>
          <a:prstGeom prst="ellipse">
            <a:avLst/>
          </a:prstGeom>
          <a:solidFill>
            <a:srgbClr val="163C63"/>
          </a:solidFill>
          <a:ln/>
        </p:spPr>
        <p:txBody>
          <a:bodyPr/>
          <a:lstStyle/>
          <a:p>
            <a:endParaRPr lang="vi-VN"/>
          </a:p>
        </p:txBody>
      </p:sp>
      <p:sp>
        <p:nvSpPr>
          <p:cNvPr id="36" name="Shape 34"/>
          <p:cNvSpPr/>
          <p:nvPr/>
        </p:nvSpPr>
        <p:spPr>
          <a:xfrm>
            <a:off x="9326880" y="6044184"/>
            <a:ext cx="73152" cy="73152"/>
          </a:xfrm>
          <a:prstGeom prst="ellipse">
            <a:avLst/>
          </a:prstGeom>
          <a:solidFill>
            <a:srgbClr val="163C63"/>
          </a:solidFill>
          <a:ln/>
        </p:spPr>
        <p:txBody>
          <a:bodyPr/>
          <a:lstStyle/>
          <a:p>
            <a:endParaRPr lang="vi-VN"/>
          </a:p>
        </p:txBody>
      </p:sp>
      <p:sp>
        <p:nvSpPr>
          <p:cNvPr id="37" name="Shape 35"/>
          <p:cNvSpPr/>
          <p:nvPr/>
        </p:nvSpPr>
        <p:spPr>
          <a:xfrm>
            <a:off x="10040112" y="6044184"/>
            <a:ext cx="73152" cy="73152"/>
          </a:xfrm>
          <a:prstGeom prst="ellipse">
            <a:avLst/>
          </a:prstGeom>
          <a:solidFill>
            <a:srgbClr val="163C63"/>
          </a:solidFill>
          <a:ln/>
        </p:spPr>
        <p:txBody>
          <a:bodyPr/>
          <a:lstStyle/>
          <a:p>
            <a:endParaRPr lang="vi-VN"/>
          </a:p>
        </p:txBody>
      </p:sp>
      <p:sp>
        <p:nvSpPr>
          <p:cNvPr id="38" name="Shape 36"/>
          <p:cNvSpPr/>
          <p:nvPr/>
        </p:nvSpPr>
        <p:spPr>
          <a:xfrm>
            <a:off x="10753344" y="6044184"/>
            <a:ext cx="73152" cy="73152"/>
          </a:xfrm>
          <a:prstGeom prst="ellipse">
            <a:avLst/>
          </a:prstGeom>
          <a:solidFill>
            <a:srgbClr val="163C63"/>
          </a:solidFill>
          <a:ln/>
        </p:spPr>
        <p:txBody>
          <a:bodyPr/>
          <a:lstStyle/>
          <a:p>
            <a:endParaRPr lang="vi-VN"/>
          </a:p>
        </p:txBody>
      </p:sp>
      <p:sp>
        <p:nvSpPr>
          <p:cNvPr id="39" name="Shape 37"/>
          <p:cNvSpPr/>
          <p:nvPr/>
        </p:nvSpPr>
        <p:spPr>
          <a:xfrm>
            <a:off x="11466576" y="6044184"/>
            <a:ext cx="73152" cy="73152"/>
          </a:xfrm>
          <a:prstGeom prst="ellipse">
            <a:avLst/>
          </a:prstGeom>
          <a:solidFill>
            <a:srgbClr val="163C63"/>
          </a:solidFill>
          <a:ln/>
        </p:spPr>
        <p:txBody>
          <a:bodyPr/>
          <a:lstStyle/>
          <a:p>
            <a:endParaRPr lang="vi-VN"/>
          </a:p>
        </p:txBody>
      </p:sp>
      <p:sp>
        <p:nvSpPr>
          <p:cNvPr id="40" name="Text 38"/>
          <p:cNvSpPr/>
          <p:nvPr/>
        </p:nvSpPr>
        <p:spPr>
          <a:xfrm>
            <a:off x="777240" y="1783080"/>
            <a:ext cx="7315200" cy="365760"/>
          </a:xfrm>
          <a:prstGeom prst="rect">
            <a:avLst/>
          </a:prstGeom>
          <a:noFill/>
          <a:ln/>
        </p:spPr>
        <p:txBody>
          <a:bodyPr wrap="square" lIns="0" tIns="0" rIns="0" bIns="0" rtlCol="0" anchor="ctr"/>
          <a:lstStyle/>
          <a:p>
            <a:pPr marL="0" indent="0" algn="l">
              <a:buNone/>
            </a:pPr>
            <a:r>
              <a:rPr lang="en-US" sz="1500" b="1" kern="0" spc="400" dirty="0">
                <a:solidFill>
                  <a:srgbClr val="22D3EE"/>
                </a:solidFill>
                <a:latin typeface="Trebuchet MS" pitchFamily="34" charset="0"/>
                <a:ea typeface="Trebuchet MS" pitchFamily="34" charset="-122"/>
                <a:cs typeface="Trebuchet MS" pitchFamily="34" charset="-120"/>
              </a:rPr>
              <a:t>FINAL PROGRESS REPORT</a:t>
            </a:r>
            <a:endParaRPr lang="en-US" sz="1500" dirty="0"/>
          </a:p>
        </p:txBody>
      </p:sp>
      <p:sp>
        <p:nvSpPr>
          <p:cNvPr id="41" name="Text 39"/>
          <p:cNvSpPr/>
          <p:nvPr/>
        </p:nvSpPr>
        <p:spPr>
          <a:xfrm>
            <a:off x="731520" y="2194560"/>
            <a:ext cx="7863840" cy="1737360"/>
          </a:xfrm>
          <a:prstGeom prst="rect">
            <a:avLst/>
          </a:prstGeom>
          <a:noFill/>
          <a:ln/>
        </p:spPr>
        <p:txBody>
          <a:bodyPr wrap="square" lIns="0" tIns="0" rIns="0" bIns="0" rtlCol="0" anchor="t"/>
          <a:lstStyle/>
          <a:p>
            <a:pPr marL="0" indent="0" algn="l">
              <a:lnSpc>
                <a:spcPct val="98000"/>
              </a:lnSpc>
              <a:buNone/>
            </a:pPr>
            <a:r>
              <a:rPr lang="en-US" sz="5200" b="1" dirty="0">
                <a:solidFill>
                  <a:srgbClr val="FFFFFF"/>
                </a:solidFill>
                <a:latin typeface="Trebuchet MS" pitchFamily="34" charset="0"/>
                <a:ea typeface="Trebuchet MS" pitchFamily="34" charset="-122"/>
                <a:cs typeface="Trebuchet MS" pitchFamily="34" charset="-120"/>
              </a:rPr>
              <a:t>IoT Smart Watering</a:t>
            </a:r>
            <a:endParaRPr lang="en-US" sz="5200" dirty="0"/>
          </a:p>
          <a:p>
            <a:pPr marL="0" indent="0" algn="l">
              <a:lnSpc>
                <a:spcPct val="98000"/>
              </a:lnSpc>
              <a:buNone/>
            </a:pPr>
            <a:r>
              <a:rPr lang="en-US" sz="5200" b="1" dirty="0">
                <a:solidFill>
                  <a:srgbClr val="FFFFFF"/>
                </a:solidFill>
                <a:latin typeface="Trebuchet MS" pitchFamily="34" charset="0"/>
                <a:ea typeface="Trebuchet MS" pitchFamily="34" charset="-122"/>
                <a:cs typeface="Trebuchet MS" pitchFamily="34" charset="-120"/>
              </a:rPr>
              <a:t>System</a:t>
            </a:r>
            <a:endParaRPr lang="en-US" sz="5200" dirty="0"/>
          </a:p>
        </p:txBody>
      </p:sp>
      <p:sp>
        <p:nvSpPr>
          <p:cNvPr id="42" name="Shape 40"/>
          <p:cNvSpPr/>
          <p:nvPr/>
        </p:nvSpPr>
        <p:spPr>
          <a:xfrm>
            <a:off x="804672" y="4069080"/>
            <a:ext cx="1371600" cy="54864"/>
          </a:xfrm>
          <a:prstGeom prst="rect">
            <a:avLst/>
          </a:prstGeom>
          <a:solidFill>
            <a:srgbClr val="0EA5C4"/>
          </a:solidFill>
          <a:ln/>
        </p:spPr>
        <p:txBody>
          <a:bodyPr/>
          <a:lstStyle/>
          <a:p>
            <a:endParaRPr lang="vi-VN"/>
          </a:p>
        </p:txBody>
      </p:sp>
      <p:sp>
        <p:nvSpPr>
          <p:cNvPr id="43" name="Text 41"/>
          <p:cNvSpPr/>
          <p:nvPr/>
        </p:nvSpPr>
        <p:spPr>
          <a:xfrm>
            <a:off x="777240" y="4297680"/>
            <a:ext cx="7498080" cy="822960"/>
          </a:xfrm>
          <a:prstGeom prst="rect">
            <a:avLst/>
          </a:prstGeom>
          <a:noFill/>
          <a:ln/>
        </p:spPr>
        <p:txBody>
          <a:bodyPr wrap="square" lIns="0" tIns="0" rIns="0" bIns="0" rtlCol="0" anchor="t"/>
          <a:lstStyle/>
          <a:p>
            <a:pPr marL="0" indent="0" algn="l">
              <a:buNone/>
            </a:pPr>
            <a:r>
              <a:rPr lang="en-US" sz="1700" dirty="0">
                <a:solidFill>
                  <a:srgbClr val="C7D6E6"/>
                </a:solidFill>
                <a:latin typeface="Calibri" pitchFamily="34" charset="0"/>
                <a:ea typeface="Calibri" pitchFamily="34" charset="-122"/>
                <a:cs typeface="Calibri" pitchFamily="34" charset="-120"/>
              </a:rPr>
              <a:t>An automatic watering system using ESP32, soil moisture data, display monitoring, and pump control.</a:t>
            </a:r>
            <a:endParaRPr lang="en-US" sz="1700" dirty="0"/>
          </a:p>
        </p:txBody>
      </p:sp>
      <p:sp>
        <p:nvSpPr>
          <p:cNvPr id="44" name="Text 42"/>
          <p:cNvSpPr/>
          <p:nvPr/>
        </p:nvSpPr>
        <p:spPr>
          <a:xfrm>
            <a:off x="777240" y="5440680"/>
            <a:ext cx="7498080" cy="365760"/>
          </a:xfrm>
          <a:prstGeom prst="rect">
            <a:avLst/>
          </a:prstGeom>
          <a:noFill/>
          <a:ln/>
        </p:spPr>
        <p:txBody>
          <a:bodyPr wrap="square" lIns="0" tIns="0" rIns="0" bIns="0" rtlCol="0" anchor="ctr"/>
          <a:lstStyle/>
          <a:p>
            <a:pPr marL="0" indent="0" algn="l">
              <a:buNone/>
            </a:pPr>
            <a:r>
              <a:rPr lang="en-US" sz="1400" b="1" dirty="0">
                <a:solidFill>
                  <a:srgbClr val="22D3EE"/>
                </a:solidFill>
                <a:latin typeface="Calibri" pitchFamily="34" charset="0"/>
                <a:ea typeface="Calibri" pitchFamily="34" charset="-122"/>
                <a:cs typeface="Calibri" pitchFamily="34" charset="-120"/>
              </a:rPr>
              <a:t>Presented by:  </a:t>
            </a:r>
            <a:r>
              <a:rPr lang="vi-VN" sz="1400" b="1" dirty="0">
                <a:solidFill>
                  <a:srgbClr val="C7D6E6"/>
                </a:solidFill>
                <a:latin typeface="Calibri" pitchFamily="34" charset="0"/>
                <a:ea typeface="Calibri" pitchFamily="34" charset="-122"/>
                <a:cs typeface="Calibri" pitchFamily="34" charset="-120"/>
              </a:rPr>
              <a:t>Trần Quang Khả</a:t>
            </a:r>
            <a:r>
              <a:rPr lang="en-US" sz="1400" b="1" dirty="0">
                <a:solidFill>
                  <a:srgbClr val="C7D6E6"/>
                </a:solidFill>
                <a:latin typeface="Calibri" pitchFamily="34" charset="0"/>
                <a:ea typeface="Calibri" pitchFamily="34" charset="-122"/>
                <a:cs typeface="Calibri" pitchFamily="34" charset="-120"/>
              </a:rPr>
              <a:t>-</a:t>
            </a:r>
            <a:r>
              <a:rPr lang="en-US" sz="1400" dirty="0">
                <a:solidFill>
                  <a:srgbClr val="C7D6E6"/>
                </a:solidFill>
                <a:latin typeface="Calibri" pitchFamily="34" charset="0"/>
                <a:ea typeface="Calibri" pitchFamily="34" charset="-122"/>
                <a:cs typeface="Calibri" pitchFamily="34" charset="-120"/>
              </a:rPr>
              <a:t> 104240554</a:t>
            </a:r>
          </a:p>
          <a:p>
            <a:pPr marL="0" indent="0" algn="l">
              <a:buNone/>
            </a:pPr>
            <a:r>
              <a:rPr lang="en-US" sz="1400" dirty="0">
                <a:solidFill>
                  <a:srgbClr val="C7D6E6"/>
                </a:solidFill>
                <a:latin typeface="Calibri" pitchFamily="34" charset="0"/>
                <a:ea typeface="Calibri" pitchFamily="34" charset="-122"/>
                <a:cs typeface="Calibri" pitchFamily="34" charset="-120"/>
              </a:rPr>
              <a:t>	     </a:t>
            </a:r>
            <a:r>
              <a:rPr lang="vi-VN" sz="1400" b="1" dirty="0">
                <a:solidFill>
                  <a:srgbClr val="C7D6E6"/>
                </a:solidFill>
                <a:latin typeface="Calibri" pitchFamily="34" charset="0"/>
                <a:ea typeface="Calibri" pitchFamily="34" charset="-122"/>
                <a:cs typeface="Calibri" pitchFamily="34" charset="-120"/>
              </a:rPr>
              <a:t>Vũ Xuân Tùng- </a:t>
            </a:r>
            <a:r>
              <a:rPr lang="en-US" sz="1400" dirty="0">
                <a:solidFill>
                  <a:srgbClr val="C7D6E6"/>
                </a:solidFill>
                <a:latin typeface="Calibri" pitchFamily="34" charset="0"/>
                <a:ea typeface="Calibri" pitchFamily="34" charset="-122"/>
                <a:cs typeface="Calibri" pitchFamily="34" charset="-120"/>
              </a:rPr>
              <a:t>104240800</a:t>
            </a:r>
            <a:endParaRPr lang="en-US" sz="1400" dirty="0"/>
          </a:p>
        </p:txBody>
      </p:sp>
      <p:graphicFrame>
        <p:nvGraphicFramePr>
          <p:cNvPr id="45" name="Bảng 44">
            <a:extLst>
              <a:ext uri="{FF2B5EF4-FFF2-40B4-BE49-F238E27FC236}">
                <a16:creationId xmlns:a16="http://schemas.microsoft.com/office/drawing/2014/main" id="{C3A15F2B-B99F-599F-CB02-87A8AF355275}"/>
              </a:ext>
            </a:extLst>
          </p:cNvPr>
          <p:cNvGraphicFramePr>
            <a:graphicFrameLocks noGrp="1"/>
          </p:cNvGraphicFramePr>
          <p:nvPr/>
        </p:nvGraphicFramePr>
        <p:xfrm>
          <a:off x="2447924" y="3864134"/>
          <a:ext cx="7296152" cy="274320"/>
        </p:xfrm>
        <a:graphic>
          <a:graphicData uri="http://schemas.openxmlformats.org/drawingml/2006/table">
            <a:tbl>
              <a:tblPr/>
              <a:tblGrid>
                <a:gridCol w="1576388">
                  <a:extLst>
                    <a:ext uri="{9D8B030D-6E8A-4147-A177-3AD203B41FA5}">
                      <a16:colId xmlns:a16="http://schemas.microsoft.com/office/drawing/2014/main" val="3745306442"/>
                    </a:ext>
                  </a:extLst>
                </a:gridCol>
                <a:gridCol w="1576388">
                  <a:extLst>
                    <a:ext uri="{9D8B030D-6E8A-4147-A177-3AD203B41FA5}">
                      <a16:colId xmlns:a16="http://schemas.microsoft.com/office/drawing/2014/main" val="1951907291"/>
                    </a:ext>
                  </a:extLst>
                </a:gridCol>
                <a:gridCol w="990600">
                  <a:extLst>
                    <a:ext uri="{9D8B030D-6E8A-4147-A177-3AD203B41FA5}">
                      <a16:colId xmlns:a16="http://schemas.microsoft.com/office/drawing/2014/main" val="3876584862"/>
                    </a:ext>
                  </a:extLst>
                </a:gridCol>
                <a:gridCol w="1576388">
                  <a:extLst>
                    <a:ext uri="{9D8B030D-6E8A-4147-A177-3AD203B41FA5}">
                      <a16:colId xmlns:a16="http://schemas.microsoft.com/office/drawing/2014/main" val="1982153043"/>
                    </a:ext>
                  </a:extLst>
                </a:gridCol>
                <a:gridCol w="1576388">
                  <a:extLst>
                    <a:ext uri="{9D8B030D-6E8A-4147-A177-3AD203B41FA5}">
                      <a16:colId xmlns:a16="http://schemas.microsoft.com/office/drawing/2014/main" val="1285718438"/>
                    </a:ext>
                  </a:extLst>
                </a:gridCol>
              </a:tblGrid>
              <a:tr h="0">
                <a:tc>
                  <a:txBody>
                    <a:bodyPr/>
                    <a:lstStyle/>
                    <a:p>
                      <a:pPr rtl="0">
                        <a:buNone/>
                      </a:pPr>
                      <a:r>
                        <a:rPr lang="vi-VN">
                          <a:effectLst/>
                        </a:rPr>
                        <a:t> </a:t>
                      </a:r>
                    </a:p>
                  </a:txBody>
                  <a:tcPr marL="0" marR="533400" marT="0" marB="0" anchor="ctr">
                    <a:lnL>
                      <a:noFill/>
                    </a:lnL>
                    <a:lnR>
                      <a:noFill/>
                    </a:lnR>
                    <a:lnT w="9525" cap="flat" cmpd="sng" algn="ctr">
                      <a:solidFill>
                        <a:srgbClr val="C4C7C5"/>
                      </a:solidFill>
                      <a:prstDash val="solid"/>
                      <a:round/>
                      <a:headEnd type="none" w="med" len="med"/>
                      <a:tailEnd type="none" w="med" len="med"/>
                    </a:lnT>
                    <a:lnB>
                      <a:noFill/>
                    </a:lnB>
                    <a:solidFill>
                      <a:srgbClr val="F8FAFD"/>
                    </a:solidFill>
                  </a:tcPr>
                </a:tc>
                <a:tc>
                  <a:txBody>
                    <a:bodyPr/>
                    <a:lstStyle/>
                    <a:p>
                      <a:pPr rtl="0">
                        <a:buNone/>
                      </a:pPr>
                      <a:endParaRPr lang="vi-VN">
                        <a:effectLst/>
                      </a:endParaRPr>
                    </a:p>
                  </a:txBody>
                  <a:tcPr marL="0" marR="533400" marT="0" marB="0" anchor="ctr">
                    <a:lnL>
                      <a:noFill/>
                    </a:lnL>
                    <a:lnR>
                      <a:noFill/>
                    </a:lnR>
                    <a:lnT w="9525" cap="flat" cmpd="sng" algn="ctr">
                      <a:solidFill>
                        <a:srgbClr val="C4C7C5"/>
                      </a:solidFill>
                      <a:prstDash val="solid"/>
                      <a:round/>
                      <a:headEnd type="none" w="med" len="med"/>
                      <a:tailEnd type="none" w="med" len="med"/>
                    </a:lnT>
                    <a:lnB>
                      <a:noFill/>
                    </a:lnB>
                    <a:solidFill>
                      <a:srgbClr val="F8FAFD"/>
                    </a:solidFill>
                  </a:tcPr>
                </a:tc>
                <a:tc>
                  <a:txBody>
                    <a:bodyPr/>
                    <a:lstStyle/>
                    <a:p>
                      <a:pPr rtl="0" fontAlgn="b">
                        <a:buNone/>
                      </a:pPr>
                      <a:endParaRPr lang="vi-VN">
                        <a:effectLst/>
                      </a:endParaRPr>
                    </a:p>
                  </a:txBody>
                  <a:tcPr marL="0" marR="533400" marT="0" marB="0" anchor="b">
                    <a:lnL>
                      <a:noFill/>
                    </a:lnL>
                    <a:lnR>
                      <a:noFill/>
                    </a:lnR>
                    <a:lnT w="9525" cap="flat" cmpd="sng" algn="ctr">
                      <a:solidFill>
                        <a:srgbClr val="C4C7C5"/>
                      </a:solidFill>
                      <a:prstDash val="solid"/>
                      <a:round/>
                      <a:headEnd type="none" w="med" len="med"/>
                      <a:tailEnd type="none" w="med" len="med"/>
                    </a:lnT>
                    <a:lnB>
                      <a:noFill/>
                    </a:lnB>
                    <a:solidFill>
                      <a:srgbClr val="F8FAFD"/>
                    </a:solidFill>
                  </a:tcPr>
                </a:tc>
                <a:tc>
                  <a:txBody>
                    <a:bodyPr/>
                    <a:lstStyle/>
                    <a:p>
                      <a:pPr rtl="0">
                        <a:buNone/>
                      </a:pPr>
                      <a:endParaRPr lang="vi-VN">
                        <a:effectLst/>
                      </a:endParaRPr>
                    </a:p>
                  </a:txBody>
                  <a:tcPr marL="0" marR="533400" marT="0" marB="0" anchor="ctr">
                    <a:lnL>
                      <a:noFill/>
                    </a:lnL>
                    <a:lnR>
                      <a:noFill/>
                    </a:lnR>
                    <a:lnT w="9525" cap="flat" cmpd="sng" algn="ctr">
                      <a:solidFill>
                        <a:srgbClr val="C4C7C5"/>
                      </a:solidFill>
                      <a:prstDash val="solid"/>
                      <a:round/>
                      <a:headEnd type="none" w="med" len="med"/>
                      <a:tailEnd type="none" w="med" len="med"/>
                    </a:lnT>
                    <a:lnB>
                      <a:noFill/>
                    </a:lnB>
                    <a:solidFill>
                      <a:srgbClr val="F8FAFD"/>
                    </a:solidFill>
                  </a:tcPr>
                </a:tc>
                <a:tc>
                  <a:txBody>
                    <a:bodyPr/>
                    <a:lstStyle/>
                    <a:p>
                      <a:pPr rtl="0">
                        <a:buNone/>
                      </a:pPr>
                      <a:endParaRPr lang="vi-VN" dirty="0">
                        <a:effectLst/>
                      </a:endParaRPr>
                    </a:p>
                  </a:txBody>
                  <a:tcPr marL="0" marR="533400" marT="0" marB="0" anchor="ctr">
                    <a:lnL>
                      <a:noFill/>
                    </a:lnL>
                    <a:lnR>
                      <a:noFill/>
                    </a:lnR>
                    <a:lnT w="9525" cap="flat" cmpd="sng" algn="ctr">
                      <a:solidFill>
                        <a:srgbClr val="C4C7C5"/>
                      </a:solidFill>
                      <a:prstDash val="solid"/>
                      <a:round/>
                      <a:headEnd type="none" w="med" len="med"/>
                      <a:tailEnd type="none" w="med" len="med"/>
                    </a:lnT>
                    <a:lnB>
                      <a:noFill/>
                    </a:lnB>
                    <a:solidFill>
                      <a:srgbClr val="F8FAFD"/>
                    </a:solidFill>
                  </a:tcPr>
                </a:tc>
                <a:extLst>
                  <a:ext uri="{0D108BD9-81ED-4DB2-BD59-A6C34878D82A}">
                    <a16:rowId xmlns:a16="http://schemas.microsoft.com/office/drawing/2014/main" val="2613745175"/>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EA5C4"/>
          </a:solidFill>
          <a:ln/>
        </p:spPr>
        <p:txBody>
          <a:bodyPr/>
          <a:lstStyle/>
          <a:p>
            <a:endParaRPr lang="vi-VN"/>
          </a:p>
        </p:txBody>
      </p:sp>
      <p:sp>
        <p:nvSpPr>
          <p:cNvPr id="3" name="Text 1"/>
          <p:cNvSpPr/>
          <p:nvPr/>
        </p:nvSpPr>
        <p:spPr>
          <a:xfrm>
            <a:off x="548640" y="457200"/>
            <a:ext cx="7315200" cy="292608"/>
          </a:xfrm>
          <a:prstGeom prst="rect">
            <a:avLst/>
          </a:prstGeom>
          <a:noFill/>
          <a:ln/>
        </p:spPr>
        <p:txBody>
          <a:bodyPr wrap="square" lIns="0" tIns="0" rIns="0" bIns="0" rtlCol="0" anchor="ctr"/>
          <a:lstStyle/>
          <a:p>
            <a:pPr marL="0" indent="0" algn="l">
              <a:buNone/>
            </a:pPr>
            <a:r>
              <a:rPr lang="en-US" sz="1200" b="1" kern="0" spc="300" dirty="0">
                <a:solidFill>
                  <a:srgbClr val="0EA5C4"/>
                </a:solidFill>
                <a:latin typeface="Trebuchet MS" pitchFamily="34" charset="0"/>
                <a:ea typeface="Trebuchet MS" pitchFamily="34" charset="-122"/>
                <a:cs typeface="Trebuchet MS" pitchFamily="34" charset="-120"/>
              </a:rPr>
              <a:t>PROJECT OBJECTIVE</a:t>
            </a:r>
            <a:endParaRPr lang="en-US" sz="1200" dirty="0"/>
          </a:p>
        </p:txBody>
      </p:sp>
      <p:sp>
        <p:nvSpPr>
          <p:cNvPr id="4" name="Text 2"/>
          <p:cNvSpPr/>
          <p:nvPr/>
        </p:nvSpPr>
        <p:spPr>
          <a:xfrm>
            <a:off x="548640" y="713232"/>
            <a:ext cx="11064240" cy="640080"/>
          </a:xfrm>
          <a:prstGeom prst="rect">
            <a:avLst/>
          </a:prstGeom>
          <a:noFill/>
          <a:ln/>
        </p:spPr>
        <p:txBody>
          <a:bodyPr wrap="square" lIns="0" tIns="0" rIns="0" bIns="0" rtlCol="0" anchor="ctr"/>
          <a:lstStyle/>
          <a:p>
            <a:pPr marL="0" indent="0" algn="l">
              <a:buNone/>
            </a:pPr>
            <a:r>
              <a:rPr lang="en-US" sz="3000" b="1" dirty="0">
                <a:solidFill>
                  <a:srgbClr val="0E2A47"/>
                </a:solidFill>
                <a:latin typeface="Trebuchet MS" pitchFamily="34" charset="0"/>
                <a:ea typeface="Trebuchet MS" pitchFamily="34" charset="-122"/>
                <a:cs typeface="Trebuchet MS" pitchFamily="34" charset="-120"/>
              </a:rPr>
              <a:t>Main Objective</a:t>
            </a:r>
            <a:endParaRPr lang="en-US" sz="3000" dirty="0"/>
          </a:p>
        </p:txBody>
      </p:sp>
      <p:sp>
        <p:nvSpPr>
          <p:cNvPr id="5" name="Text 3"/>
          <p:cNvSpPr/>
          <p:nvPr/>
        </p:nvSpPr>
        <p:spPr>
          <a:xfrm>
            <a:off x="548640" y="1572768"/>
            <a:ext cx="6949440" cy="640080"/>
          </a:xfrm>
          <a:prstGeom prst="rect">
            <a:avLst/>
          </a:prstGeom>
          <a:noFill/>
          <a:ln/>
        </p:spPr>
        <p:txBody>
          <a:bodyPr wrap="square" lIns="0" tIns="0" rIns="0" bIns="0" rtlCol="0" anchor="t"/>
          <a:lstStyle/>
          <a:p>
            <a:pPr marL="0" indent="0" algn="l">
              <a:buNone/>
            </a:pPr>
            <a:r>
              <a:rPr lang="en-US" sz="1500" dirty="0">
                <a:solidFill>
                  <a:srgbClr val="5B6B7C"/>
                </a:solidFill>
                <a:latin typeface="Calibri" pitchFamily="34" charset="0"/>
                <a:ea typeface="Calibri" pitchFamily="34" charset="-122"/>
                <a:cs typeface="Calibri" pitchFamily="34" charset="-120"/>
              </a:rPr>
              <a:t>The purpose of this project is to build an IoT-based automatic watering system that can:</a:t>
            </a:r>
            <a:endParaRPr lang="en-US" sz="1500" dirty="0"/>
          </a:p>
        </p:txBody>
      </p:sp>
      <p:sp>
        <p:nvSpPr>
          <p:cNvPr id="6" name="Shape 4"/>
          <p:cNvSpPr/>
          <p:nvPr/>
        </p:nvSpPr>
        <p:spPr>
          <a:xfrm>
            <a:off x="548640" y="2331720"/>
            <a:ext cx="457200" cy="457200"/>
          </a:xfrm>
          <a:prstGeom prst="ellipse">
            <a:avLst/>
          </a:prstGeom>
          <a:solidFill>
            <a:srgbClr val="0E2A47"/>
          </a:solidFill>
          <a:ln/>
        </p:spPr>
        <p:txBody>
          <a:bodyPr/>
          <a:lstStyle/>
          <a:p>
            <a:endParaRPr lang="vi-VN"/>
          </a:p>
        </p:txBody>
      </p:sp>
      <p:sp>
        <p:nvSpPr>
          <p:cNvPr id="7" name="Text 5"/>
          <p:cNvSpPr/>
          <p:nvPr/>
        </p:nvSpPr>
        <p:spPr>
          <a:xfrm>
            <a:off x="548640" y="23317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1</a:t>
            </a:r>
            <a:endParaRPr lang="en-US" sz="1600" dirty="0"/>
          </a:p>
        </p:txBody>
      </p:sp>
      <p:sp>
        <p:nvSpPr>
          <p:cNvPr id="8" name="Text 6"/>
          <p:cNvSpPr/>
          <p:nvPr/>
        </p:nvSpPr>
        <p:spPr>
          <a:xfrm>
            <a:off x="1188720" y="2295144"/>
            <a:ext cx="6309360" cy="530352"/>
          </a:xfrm>
          <a:prstGeom prst="rect">
            <a:avLst/>
          </a:prstGeom>
          <a:noFill/>
          <a:ln/>
        </p:spPr>
        <p:txBody>
          <a:bodyPr wrap="square" lIns="0" tIns="0" rIns="0" bIns="0" rtlCol="0" anchor="ctr"/>
          <a:lstStyle/>
          <a:p>
            <a:pPr marL="0" indent="0" algn="l">
              <a:buNone/>
            </a:pPr>
            <a:r>
              <a:rPr lang="en-US" sz="1500" dirty="0">
                <a:solidFill>
                  <a:srgbClr val="1E293B"/>
                </a:solidFill>
                <a:latin typeface="Calibri" pitchFamily="34" charset="0"/>
                <a:ea typeface="Calibri" pitchFamily="34" charset="-122"/>
                <a:cs typeface="Calibri" pitchFamily="34" charset="-120"/>
              </a:rPr>
              <a:t>Read soil moisture data</a:t>
            </a:r>
            <a:endParaRPr lang="en-US" sz="1500" dirty="0"/>
          </a:p>
        </p:txBody>
      </p:sp>
      <p:sp>
        <p:nvSpPr>
          <p:cNvPr id="9" name="Shape 7"/>
          <p:cNvSpPr/>
          <p:nvPr/>
        </p:nvSpPr>
        <p:spPr>
          <a:xfrm>
            <a:off x="548640" y="3008376"/>
            <a:ext cx="457200" cy="457200"/>
          </a:xfrm>
          <a:prstGeom prst="ellipse">
            <a:avLst/>
          </a:prstGeom>
          <a:solidFill>
            <a:srgbClr val="0E2A47"/>
          </a:solidFill>
          <a:ln/>
        </p:spPr>
        <p:txBody>
          <a:bodyPr/>
          <a:lstStyle/>
          <a:p>
            <a:endParaRPr lang="vi-VN"/>
          </a:p>
        </p:txBody>
      </p:sp>
      <p:sp>
        <p:nvSpPr>
          <p:cNvPr id="10" name="Text 8"/>
          <p:cNvSpPr/>
          <p:nvPr/>
        </p:nvSpPr>
        <p:spPr>
          <a:xfrm>
            <a:off x="548640" y="300837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2</a:t>
            </a:r>
            <a:endParaRPr lang="en-US" sz="1600" dirty="0"/>
          </a:p>
        </p:txBody>
      </p:sp>
      <p:sp>
        <p:nvSpPr>
          <p:cNvPr id="11" name="Text 9"/>
          <p:cNvSpPr/>
          <p:nvPr/>
        </p:nvSpPr>
        <p:spPr>
          <a:xfrm>
            <a:off x="1188720" y="2971800"/>
            <a:ext cx="6309360" cy="530352"/>
          </a:xfrm>
          <a:prstGeom prst="rect">
            <a:avLst/>
          </a:prstGeom>
          <a:noFill/>
          <a:ln/>
        </p:spPr>
        <p:txBody>
          <a:bodyPr wrap="square" lIns="0" tIns="0" rIns="0" bIns="0" rtlCol="0" anchor="ctr"/>
          <a:lstStyle/>
          <a:p>
            <a:pPr marL="0" indent="0" algn="l">
              <a:buNone/>
            </a:pPr>
            <a:r>
              <a:rPr lang="en-US" sz="1500" dirty="0">
                <a:solidFill>
                  <a:srgbClr val="1E293B"/>
                </a:solidFill>
                <a:latin typeface="Calibri" pitchFamily="34" charset="0"/>
                <a:ea typeface="Calibri" pitchFamily="34" charset="-122"/>
                <a:cs typeface="Calibri" pitchFamily="34" charset="-120"/>
              </a:rPr>
              <a:t>Process the data using ESP32</a:t>
            </a:r>
            <a:endParaRPr lang="en-US" sz="1500" dirty="0"/>
          </a:p>
        </p:txBody>
      </p:sp>
      <p:sp>
        <p:nvSpPr>
          <p:cNvPr id="12" name="Shape 10"/>
          <p:cNvSpPr/>
          <p:nvPr/>
        </p:nvSpPr>
        <p:spPr>
          <a:xfrm>
            <a:off x="548640" y="3685032"/>
            <a:ext cx="457200" cy="457200"/>
          </a:xfrm>
          <a:prstGeom prst="ellipse">
            <a:avLst/>
          </a:prstGeom>
          <a:solidFill>
            <a:srgbClr val="0E2A47"/>
          </a:solidFill>
          <a:ln/>
        </p:spPr>
        <p:txBody>
          <a:bodyPr/>
          <a:lstStyle/>
          <a:p>
            <a:endParaRPr lang="vi-VN"/>
          </a:p>
        </p:txBody>
      </p:sp>
      <p:sp>
        <p:nvSpPr>
          <p:cNvPr id="13" name="Text 11"/>
          <p:cNvSpPr/>
          <p:nvPr/>
        </p:nvSpPr>
        <p:spPr>
          <a:xfrm>
            <a:off x="548640" y="368503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3</a:t>
            </a:r>
            <a:endParaRPr lang="en-US" sz="1600" dirty="0"/>
          </a:p>
        </p:txBody>
      </p:sp>
      <p:sp>
        <p:nvSpPr>
          <p:cNvPr id="14" name="Text 12"/>
          <p:cNvSpPr/>
          <p:nvPr/>
        </p:nvSpPr>
        <p:spPr>
          <a:xfrm>
            <a:off x="1188720" y="3648456"/>
            <a:ext cx="6309360" cy="530352"/>
          </a:xfrm>
          <a:prstGeom prst="rect">
            <a:avLst/>
          </a:prstGeom>
          <a:noFill/>
          <a:ln/>
        </p:spPr>
        <p:txBody>
          <a:bodyPr wrap="square" lIns="0" tIns="0" rIns="0" bIns="0" rtlCol="0" anchor="ctr"/>
          <a:lstStyle/>
          <a:p>
            <a:pPr marL="0" indent="0" algn="l">
              <a:buNone/>
            </a:pPr>
            <a:r>
              <a:rPr lang="en-US" sz="1500" dirty="0">
                <a:solidFill>
                  <a:srgbClr val="1E293B"/>
                </a:solidFill>
                <a:latin typeface="Calibri" pitchFamily="34" charset="0"/>
                <a:ea typeface="Calibri" pitchFamily="34" charset="-122"/>
                <a:cs typeface="Calibri" pitchFamily="34" charset="-120"/>
              </a:rPr>
              <a:t>Automatically activate the water pump when the soil is dry</a:t>
            </a:r>
            <a:endParaRPr lang="en-US" sz="1500" dirty="0"/>
          </a:p>
        </p:txBody>
      </p:sp>
      <p:sp>
        <p:nvSpPr>
          <p:cNvPr id="15" name="Shape 13"/>
          <p:cNvSpPr/>
          <p:nvPr/>
        </p:nvSpPr>
        <p:spPr>
          <a:xfrm>
            <a:off x="548640" y="4361688"/>
            <a:ext cx="457200" cy="457200"/>
          </a:xfrm>
          <a:prstGeom prst="ellipse">
            <a:avLst/>
          </a:prstGeom>
          <a:solidFill>
            <a:srgbClr val="0E2A47"/>
          </a:solidFill>
          <a:ln/>
        </p:spPr>
        <p:txBody>
          <a:bodyPr/>
          <a:lstStyle/>
          <a:p>
            <a:endParaRPr lang="vi-VN"/>
          </a:p>
        </p:txBody>
      </p:sp>
      <p:sp>
        <p:nvSpPr>
          <p:cNvPr id="16" name="Text 14"/>
          <p:cNvSpPr/>
          <p:nvPr/>
        </p:nvSpPr>
        <p:spPr>
          <a:xfrm>
            <a:off x="548640" y="43616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4</a:t>
            </a:r>
            <a:endParaRPr lang="en-US" sz="1600" dirty="0"/>
          </a:p>
        </p:txBody>
      </p:sp>
      <p:sp>
        <p:nvSpPr>
          <p:cNvPr id="17" name="Text 15"/>
          <p:cNvSpPr/>
          <p:nvPr/>
        </p:nvSpPr>
        <p:spPr>
          <a:xfrm>
            <a:off x="1188720" y="4325112"/>
            <a:ext cx="6309360" cy="530352"/>
          </a:xfrm>
          <a:prstGeom prst="rect">
            <a:avLst/>
          </a:prstGeom>
          <a:noFill/>
          <a:ln/>
        </p:spPr>
        <p:txBody>
          <a:bodyPr wrap="square" lIns="0" tIns="0" rIns="0" bIns="0" rtlCol="0" anchor="ctr"/>
          <a:lstStyle/>
          <a:p>
            <a:pPr marL="0" indent="0" algn="l">
              <a:buNone/>
            </a:pPr>
            <a:r>
              <a:rPr lang="en-US" sz="1500" dirty="0">
                <a:solidFill>
                  <a:srgbClr val="1E293B"/>
                </a:solidFill>
                <a:latin typeface="Calibri" pitchFamily="34" charset="0"/>
                <a:ea typeface="Calibri" pitchFamily="34" charset="-122"/>
                <a:cs typeface="Calibri" pitchFamily="34" charset="-120"/>
              </a:rPr>
              <a:t>Display soil moisture and pump status on a screen</a:t>
            </a:r>
            <a:endParaRPr lang="en-US" sz="1500" dirty="0"/>
          </a:p>
        </p:txBody>
      </p:sp>
      <p:sp>
        <p:nvSpPr>
          <p:cNvPr id="18" name="Shape 16"/>
          <p:cNvSpPr/>
          <p:nvPr/>
        </p:nvSpPr>
        <p:spPr>
          <a:xfrm>
            <a:off x="548640" y="5038344"/>
            <a:ext cx="457200" cy="457200"/>
          </a:xfrm>
          <a:prstGeom prst="ellipse">
            <a:avLst/>
          </a:prstGeom>
          <a:solidFill>
            <a:srgbClr val="F2F6FA"/>
          </a:solidFill>
          <a:ln w="15875">
            <a:solidFill>
              <a:srgbClr val="0EA5C4"/>
            </a:solidFill>
            <a:prstDash val="solid"/>
          </a:ln>
        </p:spPr>
        <p:txBody>
          <a:bodyPr/>
          <a:lstStyle/>
          <a:p>
            <a:endParaRPr lang="vi-VN"/>
          </a:p>
        </p:txBody>
      </p:sp>
      <p:sp>
        <p:nvSpPr>
          <p:cNvPr id="19" name="Text 17"/>
          <p:cNvSpPr/>
          <p:nvPr/>
        </p:nvSpPr>
        <p:spPr>
          <a:xfrm>
            <a:off x="548640" y="5038344"/>
            <a:ext cx="457200" cy="457200"/>
          </a:xfrm>
          <a:prstGeom prst="rect">
            <a:avLst/>
          </a:prstGeom>
          <a:noFill/>
          <a:ln/>
        </p:spPr>
        <p:txBody>
          <a:bodyPr wrap="square" lIns="0" tIns="0" rIns="0" bIns="0" rtlCol="0" anchor="ctr"/>
          <a:lstStyle/>
          <a:p>
            <a:pPr marL="0" indent="0" algn="ctr">
              <a:buNone/>
            </a:pPr>
            <a:r>
              <a:rPr lang="en-US" sz="1600" b="1" dirty="0">
                <a:solidFill>
                  <a:srgbClr val="0EA5C4"/>
                </a:solidFill>
                <a:latin typeface="Trebuchet MS" pitchFamily="34" charset="0"/>
                <a:ea typeface="Trebuchet MS" pitchFamily="34" charset="-122"/>
                <a:cs typeface="Trebuchet MS" pitchFamily="34" charset="-120"/>
              </a:rPr>
              <a:t>5</a:t>
            </a:r>
            <a:endParaRPr lang="en-US" sz="1600" dirty="0"/>
          </a:p>
        </p:txBody>
      </p:sp>
      <p:sp>
        <p:nvSpPr>
          <p:cNvPr id="20" name="Text 18"/>
          <p:cNvSpPr/>
          <p:nvPr/>
        </p:nvSpPr>
        <p:spPr>
          <a:xfrm>
            <a:off x="1188720" y="5001768"/>
            <a:ext cx="6309360" cy="530352"/>
          </a:xfrm>
          <a:prstGeom prst="rect">
            <a:avLst/>
          </a:prstGeom>
          <a:noFill/>
          <a:ln/>
        </p:spPr>
        <p:txBody>
          <a:bodyPr wrap="square" lIns="0" tIns="0" rIns="0" bIns="0" rtlCol="0" anchor="ctr"/>
          <a:lstStyle/>
          <a:p>
            <a:pPr marL="0" indent="0" algn="l">
              <a:buNone/>
            </a:pPr>
            <a:r>
              <a:rPr lang="en-US" sz="1500" dirty="0">
                <a:solidFill>
                  <a:srgbClr val="1E293B"/>
                </a:solidFill>
                <a:latin typeface="Calibri" pitchFamily="34" charset="0"/>
                <a:ea typeface="Calibri" pitchFamily="34" charset="-122"/>
                <a:cs typeface="Calibri" pitchFamily="34" charset="-120"/>
              </a:rPr>
              <a:t>Support future monitoring through Blynk dashboard</a:t>
            </a:r>
            <a:endParaRPr lang="en-US" sz="1500" dirty="0"/>
          </a:p>
        </p:txBody>
      </p:sp>
      <p:sp>
        <p:nvSpPr>
          <p:cNvPr id="21" name="Shape 19"/>
          <p:cNvSpPr/>
          <p:nvPr/>
        </p:nvSpPr>
        <p:spPr>
          <a:xfrm>
            <a:off x="7955280" y="1572768"/>
            <a:ext cx="3685032" cy="4160520"/>
          </a:xfrm>
          <a:prstGeom prst="rect">
            <a:avLst/>
          </a:prstGeom>
          <a:solidFill>
            <a:srgbClr val="0E2A47"/>
          </a:solidFill>
          <a:ln/>
          <a:effectLst>
            <a:outerShdw blurRad="88900" dist="25400" dir="5400000" algn="bl" rotWithShape="0">
              <a:srgbClr val="9AB0C4">
                <a:alpha val="18000"/>
              </a:srgbClr>
            </a:outerShdw>
          </a:effectLst>
        </p:spPr>
        <p:txBody>
          <a:bodyPr/>
          <a:lstStyle/>
          <a:p>
            <a:endParaRPr lang="vi-VN"/>
          </a:p>
        </p:txBody>
      </p:sp>
      <p:sp>
        <p:nvSpPr>
          <p:cNvPr id="22" name="Text 20"/>
          <p:cNvSpPr/>
          <p:nvPr/>
        </p:nvSpPr>
        <p:spPr>
          <a:xfrm>
            <a:off x="8229600" y="1920240"/>
            <a:ext cx="3108960" cy="365760"/>
          </a:xfrm>
          <a:prstGeom prst="rect">
            <a:avLst/>
          </a:prstGeom>
          <a:noFill/>
          <a:ln/>
        </p:spPr>
        <p:txBody>
          <a:bodyPr wrap="square" lIns="0" tIns="0" rIns="0" bIns="0" rtlCol="0" anchor="ctr"/>
          <a:lstStyle/>
          <a:p>
            <a:pPr marL="0" indent="0">
              <a:buNone/>
            </a:pPr>
            <a:r>
              <a:rPr lang="en-US" sz="1400" b="1" kern="0" spc="300" dirty="0">
                <a:solidFill>
                  <a:srgbClr val="22D3EE"/>
                </a:solidFill>
                <a:latin typeface="Trebuchet MS" pitchFamily="34" charset="0"/>
                <a:ea typeface="Trebuchet MS" pitchFamily="34" charset="-122"/>
                <a:cs typeface="Trebuchet MS" pitchFamily="34" charset="-120"/>
              </a:rPr>
              <a:t>FINAL GOAL</a:t>
            </a:r>
            <a:endParaRPr lang="en-US" sz="1400" dirty="0"/>
          </a:p>
        </p:txBody>
      </p:sp>
      <p:sp>
        <p:nvSpPr>
          <p:cNvPr id="23" name="Shape 21"/>
          <p:cNvSpPr/>
          <p:nvPr/>
        </p:nvSpPr>
        <p:spPr>
          <a:xfrm>
            <a:off x="8229600" y="2340864"/>
            <a:ext cx="1097280" cy="45720"/>
          </a:xfrm>
          <a:prstGeom prst="rect">
            <a:avLst/>
          </a:prstGeom>
          <a:solidFill>
            <a:srgbClr val="0EA5C4"/>
          </a:solidFill>
          <a:ln/>
        </p:spPr>
        <p:txBody>
          <a:bodyPr/>
          <a:lstStyle/>
          <a:p>
            <a:endParaRPr lang="vi-VN"/>
          </a:p>
        </p:txBody>
      </p:sp>
      <p:sp>
        <p:nvSpPr>
          <p:cNvPr id="24" name="Text 22"/>
          <p:cNvSpPr/>
          <p:nvPr/>
        </p:nvSpPr>
        <p:spPr>
          <a:xfrm>
            <a:off x="8229600" y="2606040"/>
            <a:ext cx="3154680" cy="1828800"/>
          </a:xfrm>
          <a:prstGeom prst="rect">
            <a:avLst/>
          </a:prstGeom>
          <a:noFill/>
          <a:ln/>
        </p:spPr>
        <p:txBody>
          <a:bodyPr wrap="square" lIns="0" tIns="0" rIns="0" bIns="0" rtlCol="0" anchor="t"/>
          <a:lstStyle/>
          <a:p>
            <a:pPr marL="0" indent="0" algn="l">
              <a:lnSpc>
                <a:spcPct val="105000"/>
              </a:lnSpc>
              <a:buNone/>
            </a:pPr>
            <a:r>
              <a:rPr lang="en-US" sz="2400" b="1" dirty="0">
                <a:solidFill>
                  <a:srgbClr val="FFFFFF"/>
                </a:solidFill>
                <a:latin typeface="Trebuchet MS" pitchFamily="34" charset="0"/>
                <a:ea typeface="Trebuchet MS" pitchFamily="34" charset="-122"/>
                <a:cs typeface="Trebuchet MS" pitchFamily="34" charset="-120"/>
              </a:rPr>
              <a:t>Reduce manual watering and make plant care more automatic and convenient.</a:t>
            </a:r>
            <a:endParaRPr lang="en-US" sz="2400" dirty="0"/>
          </a:p>
        </p:txBody>
      </p:sp>
      <p:sp>
        <p:nvSpPr>
          <p:cNvPr id="25" name="Text 23"/>
          <p:cNvSpPr/>
          <p:nvPr/>
        </p:nvSpPr>
        <p:spPr>
          <a:xfrm>
            <a:off x="8229600" y="5212080"/>
            <a:ext cx="3154680" cy="365760"/>
          </a:xfrm>
          <a:prstGeom prst="rect">
            <a:avLst/>
          </a:prstGeom>
          <a:noFill/>
          <a:ln/>
        </p:spPr>
        <p:txBody>
          <a:bodyPr wrap="square" lIns="0" tIns="0" rIns="0" bIns="0" rtlCol="0" anchor="ctr"/>
          <a:lstStyle/>
          <a:p>
            <a:pPr marL="0" indent="0">
              <a:buNone/>
            </a:pPr>
            <a:r>
              <a:rPr lang="en-US" sz="1250" i="1" dirty="0">
                <a:solidFill>
                  <a:srgbClr val="9DB8D2"/>
                </a:solidFill>
                <a:latin typeface="Calibri" pitchFamily="34" charset="0"/>
                <a:ea typeface="Calibri" pitchFamily="34" charset="-122"/>
                <a:cs typeface="Calibri" pitchFamily="34" charset="-120"/>
              </a:rPr>
              <a:t>Automatic  •  Reliable  •  Convenient</a:t>
            </a:r>
            <a:endParaRPr lang="en-US" sz="1250" dirty="0"/>
          </a:p>
        </p:txBody>
      </p:sp>
      <p:sp>
        <p:nvSpPr>
          <p:cNvPr id="26" name="Text 24"/>
          <p:cNvSpPr/>
          <p:nvPr/>
        </p:nvSpPr>
        <p:spPr>
          <a:xfrm>
            <a:off x="548640" y="6437376"/>
            <a:ext cx="6400800" cy="274320"/>
          </a:xfrm>
          <a:prstGeom prst="rect">
            <a:avLst/>
          </a:prstGeom>
          <a:noFill/>
          <a:ln/>
        </p:spPr>
        <p:txBody>
          <a:bodyPr wrap="square" lIns="0" tIns="0" rIns="0" bIns="0" rtlCol="0" anchor="ctr"/>
          <a:lstStyle/>
          <a:p>
            <a:pPr marL="0" indent="0" algn="l">
              <a:buNone/>
            </a:pPr>
            <a:r>
              <a:rPr lang="en-US" sz="950" dirty="0">
                <a:solidFill>
                  <a:srgbClr val="5B6B7C"/>
                </a:solidFill>
                <a:latin typeface="Calibri" pitchFamily="34" charset="0"/>
                <a:ea typeface="Calibri" pitchFamily="34" charset="-122"/>
                <a:cs typeface="Calibri" pitchFamily="34" charset="-120"/>
              </a:rPr>
              <a:t>IoT Smart Watering System</a:t>
            </a:r>
            <a:endParaRPr lang="en-US" sz="950" dirty="0"/>
          </a:p>
        </p:txBody>
      </p:sp>
      <p:sp>
        <p:nvSpPr>
          <p:cNvPr id="27" name="Text 25"/>
          <p:cNvSpPr/>
          <p:nvPr/>
        </p:nvSpPr>
        <p:spPr>
          <a:xfrm>
            <a:off x="10637215" y="6437376"/>
            <a:ext cx="1005840" cy="274320"/>
          </a:xfrm>
          <a:prstGeom prst="rect">
            <a:avLst/>
          </a:prstGeom>
          <a:noFill/>
          <a:ln/>
        </p:spPr>
        <p:txBody>
          <a:bodyPr wrap="square" lIns="0" tIns="0" rIns="0" bIns="0" rtlCol="0" anchor="ctr"/>
          <a:lstStyle/>
          <a:p>
            <a:pPr marL="0" indent="0" algn="r">
              <a:buNone/>
            </a:pPr>
            <a:r>
              <a:rPr lang="en-US" sz="950" dirty="0">
                <a:solidFill>
                  <a:srgbClr val="5B6B7C"/>
                </a:solidFill>
                <a:latin typeface="Calibri" pitchFamily="34" charset="0"/>
                <a:ea typeface="Calibri" pitchFamily="34" charset="-122"/>
                <a:cs typeface="Calibri" pitchFamily="34" charset="-120"/>
              </a:rPr>
              <a:t>2 / </a:t>
            </a:r>
            <a:r>
              <a:rPr lang="en-US" sz="950">
                <a:solidFill>
                  <a:srgbClr val="5B6B7C"/>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EA5C4"/>
          </a:solidFill>
          <a:ln/>
        </p:spPr>
        <p:txBody>
          <a:bodyPr/>
          <a:lstStyle/>
          <a:p>
            <a:endParaRPr lang="vi-VN"/>
          </a:p>
        </p:txBody>
      </p:sp>
      <p:sp>
        <p:nvSpPr>
          <p:cNvPr id="3" name="Text 1"/>
          <p:cNvSpPr/>
          <p:nvPr/>
        </p:nvSpPr>
        <p:spPr>
          <a:xfrm>
            <a:off x="548640" y="457200"/>
            <a:ext cx="7315200" cy="292608"/>
          </a:xfrm>
          <a:prstGeom prst="rect">
            <a:avLst/>
          </a:prstGeom>
          <a:noFill/>
          <a:ln/>
        </p:spPr>
        <p:txBody>
          <a:bodyPr wrap="square" lIns="0" tIns="0" rIns="0" bIns="0" rtlCol="0" anchor="ctr"/>
          <a:lstStyle/>
          <a:p>
            <a:pPr marL="0" indent="0" algn="l">
              <a:buNone/>
            </a:pPr>
            <a:r>
              <a:rPr lang="en-US" sz="1200" b="1" kern="0" spc="300" dirty="0">
                <a:solidFill>
                  <a:srgbClr val="0EA5C4"/>
                </a:solidFill>
                <a:latin typeface="Trebuchet MS" pitchFamily="34" charset="0"/>
                <a:ea typeface="Trebuchet MS" pitchFamily="34" charset="-122"/>
                <a:cs typeface="Trebuchet MS" pitchFamily="34" charset="-120"/>
              </a:rPr>
              <a:t>SYSTEM COMPONENTS</a:t>
            </a:r>
            <a:endParaRPr lang="en-US" sz="1200" dirty="0"/>
          </a:p>
        </p:txBody>
      </p:sp>
      <p:sp>
        <p:nvSpPr>
          <p:cNvPr id="4" name="Text 2"/>
          <p:cNvSpPr/>
          <p:nvPr/>
        </p:nvSpPr>
        <p:spPr>
          <a:xfrm>
            <a:off x="548640" y="713232"/>
            <a:ext cx="11064240" cy="640080"/>
          </a:xfrm>
          <a:prstGeom prst="rect">
            <a:avLst/>
          </a:prstGeom>
          <a:noFill/>
          <a:ln/>
        </p:spPr>
        <p:txBody>
          <a:bodyPr wrap="square" lIns="0" tIns="0" rIns="0" bIns="0" rtlCol="0" anchor="ctr"/>
          <a:lstStyle/>
          <a:p>
            <a:pPr marL="0" indent="0" algn="l">
              <a:buNone/>
            </a:pPr>
            <a:r>
              <a:rPr lang="en-US" sz="3000" b="1" dirty="0">
                <a:solidFill>
                  <a:srgbClr val="0E2A47"/>
                </a:solidFill>
                <a:latin typeface="Trebuchet MS" pitchFamily="34" charset="0"/>
                <a:ea typeface="Trebuchet MS" pitchFamily="34" charset="-122"/>
                <a:cs typeface="Trebuchet MS" pitchFamily="34" charset="-120"/>
              </a:rPr>
              <a:t>Hardware &amp; Software</a:t>
            </a:r>
            <a:endParaRPr lang="en-US" sz="3000" dirty="0"/>
          </a:p>
        </p:txBody>
      </p:sp>
      <p:sp>
        <p:nvSpPr>
          <p:cNvPr id="5" name="Shape 3"/>
          <p:cNvSpPr/>
          <p:nvPr/>
        </p:nvSpPr>
        <p:spPr>
          <a:xfrm>
            <a:off x="548640" y="1600200"/>
            <a:ext cx="6446520" cy="4526280"/>
          </a:xfrm>
          <a:prstGeom prst="rect">
            <a:avLst/>
          </a:prstGeom>
          <a:solidFill>
            <a:srgbClr val="FFFFFF"/>
          </a:solidFill>
          <a:ln w="12700">
            <a:solidFill>
              <a:srgbClr val="D7E2ED"/>
            </a:solidFill>
            <a:prstDash val="solid"/>
          </a:ln>
          <a:effectLst>
            <a:outerShdw blurRad="88900" dist="25400" dir="5400000" algn="bl" rotWithShape="0">
              <a:srgbClr val="9AB0C4">
                <a:alpha val="18000"/>
              </a:srgbClr>
            </a:outerShdw>
          </a:effectLst>
        </p:spPr>
        <p:txBody>
          <a:bodyPr/>
          <a:lstStyle/>
          <a:p>
            <a:endParaRPr lang="vi-VN"/>
          </a:p>
        </p:txBody>
      </p:sp>
      <p:sp>
        <p:nvSpPr>
          <p:cNvPr id="6" name="Shape 4"/>
          <p:cNvSpPr/>
          <p:nvPr/>
        </p:nvSpPr>
        <p:spPr>
          <a:xfrm>
            <a:off x="548640" y="1600200"/>
            <a:ext cx="6446520" cy="420624"/>
          </a:xfrm>
          <a:prstGeom prst="rect">
            <a:avLst/>
          </a:prstGeom>
          <a:solidFill>
            <a:srgbClr val="0E2A47"/>
          </a:solidFill>
          <a:ln/>
        </p:spPr>
        <p:txBody>
          <a:bodyPr/>
          <a:lstStyle/>
          <a:p>
            <a:endParaRPr lang="vi-VN"/>
          </a:p>
        </p:txBody>
      </p:sp>
      <p:sp>
        <p:nvSpPr>
          <p:cNvPr id="7" name="Text 5"/>
          <p:cNvSpPr/>
          <p:nvPr/>
        </p:nvSpPr>
        <p:spPr>
          <a:xfrm>
            <a:off x="713232" y="1600200"/>
            <a:ext cx="6172200" cy="420624"/>
          </a:xfrm>
          <a:prstGeom prst="rect">
            <a:avLst/>
          </a:prstGeom>
          <a:noFill/>
          <a:ln/>
        </p:spPr>
        <p:txBody>
          <a:bodyPr wrap="square" lIns="0" tIns="0" rIns="0" bIns="0" rtlCol="0" anchor="ctr"/>
          <a:lstStyle/>
          <a:p>
            <a:pPr marL="0" indent="0" algn="l">
              <a:buNone/>
            </a:pPr>
            <a:r>
              <a:rPr lang="en-US" sz="1300" b="1" kern="0" spc="150" dirty="0">
                <a:solidFill>
                  <a:srgbClr val="FFFFFF"/>
                </a:solidFill>
                <a:latin typeface="Trebuchet MS" pitchFamily="34" charset="0"/>
                <a:ea typeface="Trebuchet MS" pitchFamily="34" charset="-122"/>
                <a:cs typeface="Trebuchet MS" pitchFamily="34" charset="-120"/>
              </a:rPr>
              <a:t>HARDWARE USED</a:t>
            </a:r>
            <a:endParaRPr lang="en-US" sz="1300" dirty="0"/>
          </a:p>
        </p:txBody>
      </p:sp>
      <p:sp>
        <p:nvSpPr>
          <p:cNvPr id="8" name="Text 6"/>
          <p:cNvSpPr/>
          <p:nvPr/>
        </p:nvSpPr>
        <p:spPr>
          <a:xfrm>
            <a:off x="868680" y="2286000"/>
            <a:ext cx="2834640" cy="3566160"/>
          </a:xfrm>
          <a:prstGeom prst="rect">
            <a:avLst/>
          </a:prstGeom>
          <a:noFill/>
          <a:ln/>
        </p:spPr>
        <p:txBody>
          <a:bodyPr wrap="square" lIns="0" tIns="0" rIns="0" bIns="0" rtlCol="0" anchor="t"/>
          <a:lstStyle/>
          <a:p>
            <a:pPr marL="203200" indent="-203200" algn="l">
              <a:spcAft>
                <a:spcPts val="1400"/>
              </a:spcAft>
              <a:buSzPct val="100000"/>
              <a:buChar char="•"/>
            </a:pPr>
            <a:r>
              <a:rPr lang="en-US" sz="1450" dirty="0">
                <a:solidFill>
                  <a:srgbClr val="1E293B"/>
                </a:solidFill>
                <a:latin typeface="Calibri" pitchFamily="34" charset="0"/>
                <a:ea typeface="Calibri" pitchFamily="34" charset="-122"/>
                <a:cs typeface="Calibri" pitchFamily="34" charset="-120"/>
              </a:rPr>
              <a:t>ESP32 microcontroller</a:t>
            </a:r>
            <a:endParaRPr lang="en-US" sz="1450" dirty="0"/>
          </a:p>
          <a:p>
            <a:pPr marL="203200" indent="-203200" algn="l">
              <a:spcAft>
                <a:spcPts val="1400"/>
              </a:spcAft>
              <a:buSzPct val="100000"/>
              <a:buChar char="•"/>
            </a:pPr>
            <a:r>
              <a:rPr lang="en-US" sz="1450" dirty="0">
                <a:solidFill>
                  <a:srgbClr val="1E293B"/>
                </a:solidFill>
                <a:latin typeface="Calibri" pitchFamily="34" charset="0"/>
                <a:ea typeface="Calibri" pitchFamily="34" charset="-122"/>
                <a:cs typeface="Calibri" pitchFamily="34" charset="-120"/>
              </a:rPr>
              <a:t>Soil moisture sensor</a:t>
            </a:r>
            <a:endParaRPr lang="en-US" sz="1450" dirty="0"/>
          </a:p>
          <a:p>
            <a:pPr marL="203200" indent="-203200" algn="l">
              <a:spcAft>
                <a:spcPts val="1400"/>
              </a:spcAft>
              <a:buSzPct val="100000"/>
              <a:buChar char="•"/>
            </a:pPr>
            <a:r>
              <a:rPr lang="en-US" sz="1450" dirty="0">
                <a:solidFill>
                  <a:srgbClr val="1E293B"/>
                </a:solidFill>
                <a:latin typeface="Calibri" pitchFamily="34" charset="0"/>
                <a:ea typeface="Calibri" pitchFamily="34" charset="-122"/>
                <a:cs typeface="Calibri" pitchFamily="34" charset="-120"/>
              </a:rPr>
              <a:t>Relay module</a:t>
            </a:r>
            <a:endParaRPr lang="en-US" sz="1450" dirty="0"/>
          </a:p>
          <a:p>
            <a:pPr marL="203200" indent="-203200" algn="l">
              <a:spcAft>
                <a:spcPts val="1400"/>
              </a:spcAft>
              <a:buSzPct val="100000"/>
              <a:buChar char="•"/>
            </a:pPr>
            <a:r>
              <a:rPr lang="en-US" sz="1450" dirty="0">
                <a:solidFill>
                  <a:srgbClr val="1E293B"/>
                </a:solidFill>
                <a:latin typeface="Calibri" pitchFamily="34" charset="0"/>
                <a:ea typeface="Calibri" pitchFamily="34" charset="-122"/>
                <a:cs typeface="Calibri" pitchFamily="34" charset="-120"/>
              </a:rPr>
              <a:t>Water pump</a:t>
            </a:r>
            <a:endParaRPr lang="en-US" sz="1450" dirty="0"/>
          </a:p>
        </p:txBody>
      </p:sp>
      <p:sp>
        <p:nvSpPr>
          <p:cNvPr id="9" name="Text 7"/>
          <p:cNvSpPr/>
          <p:nvPr/>
        </p:nvSpPr>
        <p:spPr>
          <a:xfrm>
            <a:off x="3794760" y="2286000"/>
            <a:ext cx="3017520" cy="3566160"/>
          </a:xfrm>
          <a:prstGeom prst="rect">
            <a:avLst/>
          </a:prstGeom>
          <a:noFill/>
          <a:ln/>
        </p:spPr>
        <p:txBody>
          <a:bodyPr wrap="square" lIns="0" tIns="0" rIns="0" bIns="0" rtlCol="0" anchor="t"/>
          <a:lstStyle/>
          <a:p>
            <a:pPr marL="203200" indent="-203200" algn="l">
              <a:spcAft>
                <a:spcPts val="1400"/>
              </a:spcAft>
              <a:buSzPct val="100000"/>
              <a:buChar char="•"/>
            </a:pPr>
            <a:r>
              <a:rPr lang="en-US" sz="1450" dirty="0">
                <a:solidFill>
                  <a:srgbClr val="1E293B"/>
                </a:solidFill>
                <a:latin typeface="Calibri" pitchFamily="34" charset="0"/>
                <a:ea typeface="Calibri" pitchFamily="34" charset="-122"/>
                <a:cs typeface="Calibri" pitchFamily="34" charset="-120"/>
              </a:rPr>
              <a:t>Display screen</a:t>
            </a:r>
            <a:endParaRPr lang="en-US" sz="1450" dirty="0"/>
          </a:p>
          <a:p>
            <a:pPr marL="203200" indent="-203200" algn="l">
              <a:spcAft>
                <a:spcPts val="1400"/>
              </a:spcAft>
              <a:buSzPct val="100000"/>
              <a:buChar char="•"/>
            </a:pPr>
            <a:r>
              <a:rPr lang="en-US" sz="1450" dirty="0">
                <a:solidFill>
                  <a:srgbClr val="1E293B"/>
                </a:solidFill>
                <a:latin typeface="Calibri" pitchFamily="34" charset="0"/>
                <a:ea typeface="Calibri" pitchFamily="34" charset="-122"/>
                <a:cs typeface="Calibri" pitchFamily="34" charset="-120"/>
              </a:rPr>
              <a:t>Battery holder with ON/OFF switch</a:t>
            </a:r>
            <a:endParaRPr lang="en-US" sz="1450" dirty="0"/>
          </a:p>
          <a:p>
            <a:pPr marL="203200" indent="-203200" algn="l">
              <a:spcAft>
                <a:spcPts val="1400"/>
              </a:spcAft>
              <a:buSzPct val="100000"/>
              <a:buChar char="•"/>
            </a:pPr>
            <a:r>
              <a:rPr lang="en-US" sz="1450" dirty="0">
                <a:solidFill>
                  <a:srgbClr val="1E293B"/>
                </a:solidFill>
                <a:latin typeface="Calibri" pitchFamily="34" charset="0"/>
                <a:ea typeface="Calibri" pitchFamily="34" charset="-122"/>
                <a:cs typeface="Calibri" pitchFamily="34" charset="-120"/>
              </a:rPr>
              <a:t>Voltage converter / power module</a:t>
            </a:r>
            <a:endParaRPr lang="en-US" sz="1450" dirty="0"/>
          </a:p>
          <a:p>
            <a:pPr marL="203200" indent="-203200" algn="l">
              <a:spcAft>
                <a:spcPts val="1400"/>
              </a:spcAft>
              <a:buSzPct val="100000"/>
              <a:buChar char="•"/>
            </a:pPr>
            <a:r>
              <a:rPr lang="en-US" sz="1450" dirty="0">
                <a:solidFill>
                  <a:srgbClr val="1E293B"/>
                </a:solidFill>
                <a:latin typeface="Calibri" pitchFamily="34" charset="0"/>
                <a:ea typeface="Calibri" pitchFamily="34" charset="-122"/>
                <a:cs typeface="Calibri" pitchFamily="34" charset="-120"/>
              </a:rPr>
              <a:t>Jumper wires and connection cables</a:t>
            </a:r>
            <a:endParaRPr lang="en-US" sz="1450" dirty="0"/>
          </a:p>
        </p:txBody>
      </p:sp>
      <p:sp>
        <p:nvSpPr>
          <p:cNvPr id="10" name="Shape 8"/>
          <p:cNvSpPr/>
          <p:nvPr/>
        </p:nvSpPr>
        <p:spPr>
          <a:xfrm>
            <a:off x="7178040" y="1600200"/>
            <a:ext cx="4462272" cy="4526280"/>
          </a:xfrm>
          <a:prstGeom prst="rect">
            <a:avLst/>
          </a:prstGeom>
          <a:solidFill>
            <a:srgbClr val="FFFFFF"/>
          </a:solidFill>
          <a:ln w="12700">
            <a:solidFill>
              <a:srgbClr val="D7E2ED"/>
            </a:solidFill>
            <a:prstDash val="solid"/>
          </a:ln>
          <a:effectLst>
            <a:outerShdw blurRad="88900" dist="25400" dir="5400000" algn="bl" rotWithShape="0">
              <a:srgbClr val="9AB0C4">
                <a:alpha val="18000"/>
              </a:srgbClr>
            </a:outerShdw>
          </a:effectLst>
        </p:spPr>
        <p:txBody>
          <a:bodyPr/>
          <a:lstStyle/>
          <a:p>
            <a:endParaRPr lang="vi-VN"/>
          </a:p>
        </p:txBody>
      </p:sp>
      <p:sp>
        <p:nvSpPr>
          <p:cNvPr id="11" name="Shape 9"/>
          <p:cNvSpPr/>
          <p:nvPr/>
        </p:nvSpPr>
        <p:spPr>
          <a:xfrm>
            <a:off x="7178040" y="1600200"/>
            <a:ext cx="4462272" cy="420624"/>
          </a:xfrm>
          <a:prstGeom prst="rect">
            <a:avLst/>
          </a:prstGeom>
          <a:solidFill>
            <a:srgbClr val="0EA5C4"/>
          </a:solidFill>
          <a:ln/>
        </p:spPr>
        <p:txBody>
          <a:bodyPr/>
          <a:lstStyle/>
          <a:p>
            <a:endParaRPr lang="vi-VN"/>
          </a:p>
        </p:txBody>
      </p:sp>
      <p:sp>
        <p:nvSpPr>
          <p:cNvPr id="12" name="Text 10"/>
          <p:cNvSpPr/>
          <p:nvPr/>
        </p:nvSpPr>
        <p:spPr>
          <a:xfrm>
            <a:off x="7342632" y="1600200"/>
            <a:ext cx="4187952" cy="420624"/>
          </a:xfrm>
          <a:prstGeom prst="rect">
            <a:avLst/>
          </a:prstGeom>
          <a:noFill/>
          <a:ln/>
        </p:spPr>
        <p:txBody>
          <a:bodyPr wrap="square" lIns="0" tIns="0" rIns="0" bIns="0" rtlCol="0" anchor="ctr"/>
          <a:lstStyle/>
          <a:p>
            <a:pPr marL="0" indent="0" algn="l">
              <a:buNone/>
            </a:pPr>
            <a:r>
              <a:rPr lang="en-US" sz="1300" b="1" kern="0" spc="150" dirty="0">
                <a:solidFill>
                  <a:srgbClr val="FFFFFF"/>
                </a:solidFill>
                <a:latin typeface="Trebuchet MS" pitchFamily="34" charset="0"/>
                <a:ea typeface="Trebuchet MS" pitchFamily="34" charset="-122"/>
                <a:cs typeface="Trebuchet MS" pitchFamily="34" charset="-120"/>
              </a:rPr>
              <a:t>SOFTWARE / PLATFORM</a:t>
            </a:r>
            <a:endParaRPr lang="en-US" sz="1300" dirty="0"/>
          </a:p>
        </p:txBody>
      </p:sp>
      <p:sp>
        <p:nvSpPr>
          <p:cNvPr id="13" name="Text 11"/>
          <p:cNvSpPr/>
          <p:nvPr/>
        </p:nvSpPr>
        <p:spPr>
          <a:xfrm>
            <a:off x="7498080" y="2286000"/>
            <a:ext cx="3886200" cy="2194560"/>
          </a:xfrm>
          <a:prstGeom prst="rect">
            <a:avLst/>
          </a:prstGeom>
          <a:noFill/>
          <a:ln/>
        </p:spPr>
        <p:txBody>
          <a:bodyPr wrap="square" lIns="0" tIns="0" rIns="0" bIns="0" rtlCol="0" anchor="t"/>
          <a:lstStyle/>
          <a:p>
            <a:pPr marL="203200" indent="-203200" algn="l">
              <a:spcAft>
                <a:spcPts val="1400"/>
              </a:spcAft>
              <a:buSzPct val="100000"/>
              <a:buChar char="•"/>
            </a:pPr>
            <a:r>
              <a:rPr lang="en-US" sz="1450" dirty="0">
                <a:solidFill>
                  <a:srgbClr val="1E293B"/>
                </a:solidFill>
                <a:latin typeface="Calibri" pitchFamily="34" charset="0"/>
                <a:ea typeface="Calibri" pitchFamily="34" charset="-122"/>
                <a:cs typeface="Calibri" pitchFamily="34" charset="-120"/>
              </a:rPr>
              <a:t>Arduino IDE</a:t>
            </a:r>
            <a:endParaRPr lang="en-US" sz="1450" dirty="0"/>
          </a:p>
          <a:p>
            <a:pPr marL="203200" indent="-203200" algn="l">
              <a:spcAft>
                <a:spcPts val="1400"/>
              </a:spcAft>
              <a:buSzPct val="100000"/>
              <a:buChar char="•"/>
            </a:pPr>
            <a:r>
              <a:rPr lang="en-US" sz="1450" dirty="0">
                <a:solidFill>
                  <a:srgbClr val="1E293B"/>
                </a:solidFill>
                <a:latin typeface="Calibri" pitchFamily="34" charset="0"/>
                <a:ea typeface="Calibri" pitchFamily="34" charset="-122"/>
                <a:cs typeface="Calibri" pitchFamily="34" charset="-120"/>
              </a:rPr>
              <a:t>ESP32 Wi-Fi connection</a:t>
            </a:r>
            <a:endParaRPr lang="en-US" sz="1450" dirty="0"/>
          </a:p>
          <a:p>
            <a:pPr marL="203200" indent="-203200" algn="l">
              <a:spcAft>
                <a:spcPts val="1400"/>
              </a:spcAft>
              <a:buSzPct val="100000"/>
              <a:buChar char="•"/>
            </a:pPr>
            <a:r>
              <a:rPr lang="en-US" sz="1450" dirty="0">
                <a:solidFill>
                  <a:srgbClr val="1E293B"/>
                </a:solidFill>
                <a:latin typeface="Calibri" pitchFamily="34" charset="0"/>
                <a:ea typeface="Calibri" pitchFamily="34" charset="-122"/>
                <a:cs typeface="Calibri" pitchFamily="34" charset="-120"/>
              </a:rPr>
              <a:t>Live soil moisture readings</a:t>
            </a:r>
          </a:p>
          <a:p>
            <a:pPr marL="203200" indent="-203200" algn="l">
              <a:spcAft>
                <a:spcPts val="1400"/>
              </a:spcAft>
              <a:buSzPct val="100000"/>
              <a:buChar char="•"/>
            </a:pPr>
            <a:r>
              <a:rPr lang="en-US" sz="1450" dirty="0">
                <a:solidFill>
                  <a:srgbClr val="1E293B"/>
                </a:solidFill>
                <a:latin typeface="Calibri" pitchFamily="34" charset="0"/>
                <a:ea typeface="Calibri" pitchFamily="34" charset="-122"/>
                <a:cs typeface="Calibri" pitchFamily="34" charset="-120"/>
              </a:rPr>
              <a:t>Blynk dashboard</a:t>
            </a:r>
            <a:endParaRPr lang="en-US" sz="1450" dirty="0"/>
          </a:p>
        </p:txBody>
      </p:sp>
      <p:sp>
        <p:nvSpPr>
          <p:cNvPr id="15" name="Text 13"/>
          <p:cNvSpPr/>
          <p:nvPr/>
        </p:nvSpPr>
        <p:spPr>
          <a:xfrm>
            <a:off x="7699248" y="4901184"/>
            <a:ext cx="3474720" cy="822960"/>
          </a:xfrm>
          <a:prstGeom prst="rect">
            <a:avLst/>
          </a:prstGeom>
          <a:noFill/>
          <a:ln/>
        </p:spPr>
        <p:txBody>
          <a:bodyPr wrap="square" lIns="0" tIns="0" rIns="0" bIns="0" rtlCol="0" anchor="ctr"/>
          <a:lstStyle/>
          <a:p>
            <a:pPr marL="0" indent="0">
              <a:buNone/>
            </a:pPr>
            <a:endParaRPr lang="en-US" sz="1450" dirty="0"/>
          </a:p>
        </p:txBody>
      </p:sp>
      <p:sp>
        <p:nvSpPr>
          <p:cNvPr id="16" name="Text 14"/>
          <p:cNvSpPr/>
          <p:nvPr/>
        </p:nvSpPr>
        <p:spPr>
          <a:xfrm>
            <a:off x="548640" y="6437376"/>
            <a:ext cx="6400800" cy="274320"/>
          </a:xfrm>
          <a:prstGeom prst="rect">
            <a:avLst/>
          </a:prstGeom>
          <a:noFill/>
          <a:ln/>
        </p:spPr>
        <p:txBody>
          <a:bodyPr wrap="square" lIns="0" tIns="0" rIns="0" bIns="0" rtlCol="0" anchor="ctr"/>
          <a:lstStyle/>
          <a:p>
            <a:pPr marL="0" indent="0" algn="l">
              <a:buNone/>
            </a:pPr>
            <a:r>
              <a:rPr lang="en-US" sz="950" dirty="0">
                <a:solidFill>
                  <a:srgbClr val="5B6B7C"/>
                </a:solidFill>
                <a:latin typeface="Calibri" pitchFamily="34" charset="0"/>
                <a:ea typeface="Calibri" pitchFamily="34" charset="-122"/>
                <a:cs typeface="Calibri" pitchFamily="34" charset="-120"/>
              </a:rPr>
              <a:t>IoT Smart Watering System</a:t>
            </a:r>
            <a:endParaRPr lang="en-US" sz="950" dirty="0"/>
          </a:p>
        </p:txBody>
      </p:sp>
      <p:sp>
        <p:nvSpPr>
          <p:cNvPr id="17" name="Text 15"/>
          <p:cNvSpPr/>
          <p:nvPr/>
        </p:nvSpPr>
        <p:spPr>
          <a:xfrm>
            <a:off x="10637215" y="6437376"/>
            <a:ext cx="1005840" cy="274320"/>
          </a:xfrm>
          <a:prstGeom prst="rect">
            <a:avLst/>
          </a:prstGeom>
          <a:noFill/>
          <a:ln/>
        </p:spPr>
        <p:txBody>
          <a:bodyPr wrap="square" lIns="0" tIns="0" rIns="0" bIns="0" rtlCol="0" anchor="ctr"/>
          <a:lstStyle/>
          <a:p>
            <a:pPr marL="0" indent="0" algn="r">
              <a:buNone/>
            </a:pPr>
            <a:r>
              <a:rPr lang="en-US" sz="950" dirty="0">
                <a:solidFill>
                  <a:srgbClr val="5B6B7C"/>
                </a:solidFill>
                <a:latin typeface="Calibri" pitchFamily="34" charset="0"/>
                <a:ea typeface="Calibri" pitchFamily="34" charset="-122"/>
                <a:cs typeface="Calibri" pitchFamily="34" charset="-120"/>
              </a:rPr>
              <a:t>3 / </a:t>
            </a:r>
            <a:r>
              <a:rPr lang="en-US" sz="950">
                <a:solidFill>
                  <a:srgbClr val="5B6B7C"/>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EA5C4"/>
          </a:solidFill>
          <a:ln/>
        </p:spPr>
        <p:txBody>
          <a:bodyPr/>
          <a:lstStyle/>
          <a:p>
            <a:endParaRPr lang="vi-VN"/>
          </a:p>
        </p:txBody>
      </p:sp>
      <p:sp>
        <p:nvSpPr>
          <p:cNvPr id="3" name="Text 1"/>
          <p:cNvSpPr/>
          <p:nvPr/>
        </p:nvSpPr>
        <p:spPr>
          <a:xfrm>
            <a:off x="548640" y="457200"/>
            <a:ext cx="7315200" cy="292608"/>
          </a:xfrm>
          <a:prstGeom prst="rect">
            <a:avLst/>
          </a:prstGeom>
          <a:noFill/>
          <a:ln/>
        </p:spPr>
        <p:txBody>
          <a:bodyPr wrap="square" lIns="0" tIns="0" rIns="0" bIns="0" rtlCol="0" anchor="ctr"/>
          <a:lstStyle/>
          <a:p>
            <a:pPr marL="0" indent="0" algn="l">
              <a:buNone/>
            </a:pPr>
            <a:r>
              <a:rPr lang="en-US" sz="1200" b="1" kern="0" spc="300" dirty="0">
                <a:solidFill>
                  <a:srgbClr val="0EA5C4"/>
                </a:solidFill>
                <a:latin typeface="Trebuchet MS" pitchFamily="34" charset="0"/>
                <a:ea typeface="Trebuchet MS" pitchFamily="34" charset="-122"/>
                <a:cs typeface="Trebuchet MS" pitchFamily="34" charset="-120"/>
              </a:rPr>
              <a:t>SYSTEM WORKFLOW</a:t>
            </a:r>
            <a:endParaRPr lang="en-US" sz="1200" dirty="0"/>
          </a:p>
        </p:txBody>
      </p:sp>
      <p:sp>
        <p:nvSpPr>
          <p:cNvPr id="4" name="Text 2"/>
          <p:cNvSpPr/>
          <p:nvPr/>
        </p:nvSpPr>
        <p:spPr>
          <a:xfrm>
            <a:off x="548640" y="713232"/>
            <a:ext cx="11064240" cy="640080"/>
          </a:xfrm>
          <a:prstGeom prst="rect">
            <a:avLst/>
          </a:prstGeom>
          <a:noFill/>
          <a:ln/>
        </p:spPr>
        <p:txBody>
          <a:bodyPr wrap="square" lIns="0" tIns="0" rIns="0" bIns="0" rtlCol="0" anchor="ctr"/>
          <a:lstStyle/>
          <a:p>
            <a:pPr marL="0" indent="0" algn="l">
              <a:buNone/>
            </a:pPr>
            <a:r>
              <a:rPr lang="en-US" sz="3000" b="1" dirty="0">
                <a:solidFill>
                  <a:srgbClr val="0E2A47"/>
                </a:solidFill>
                <a:latin typeface="Trebuchet MS" pitchFamily="34" charset="0"/>
                <a:ea typeface="Trebuchet MS" pitchFamily="34" charset="-122"/>
                <a:cs typeface="Trebuchet MS" pitchFamily="34" charset="-120"/>
              </a:rPr>
              <a:t>How the System Works</a:t>
            </a:r>
            <a:endParaRPr lang="en-US" sz="3000" dirty="0"/>
          </a:p>
        </p:txBody>
      </p:sp>
      <p:sp>
        <p:nvSpPr>
          <p:cNvPr id="5" name="Shape 3"/>
          <p:cNvSpPr/>
          <p:nvPr/>
        </p:nvSpPr>
        <p:spPr>
          <a:xfrm>
            <a:off x="548640" y="1627632"/>
            <a:ext cx="3611880" cy="1078992"/>
          </a:xfrm>
          <a:prstGeom prst="rect">
            <a:avLst/>
          </a:prstGeom>
          <a:solidFill>
            <a:srgbClr val="F2F6FA"/>
          </a:solidFill>
          <a:ln w="12700">
            <a:solidFill>
              <a:srgbClr val="D7E2ED"/>
            </a:solidFill>
            <a:prstDash val="solid"/>
          </a:ln>
          <a:effectLst>
            <a:outerShdw blurRad="88900" dist="25400" dir="5400000" algn="bl" rotWithShape="0">
              <a:srgbClr val="9AB0C4">
                <a:alpha val="18000"/>
              </a:srgbClr>
            </a:outerShdw>
          </a:effectLst>
        </p:spPr>
        <p:txBody>
          <a:bodyPr/>
          <a:lstStyle/>
          <a:p>
            <a:endParaRPr lang="vi-VN"/>
          </a:p>
        </p:txBody>
      </p:sp>
      <p:sp>
        <p:nvSpPr>
          <p:cNvPr id="6" name="Shape 4"/>
          <p:cNvSpPr/>
          <p:nvPr/>
        </p:nvSpPr>
        <p:spPr>
          <a:xfrm>
            <a:off x="731520" y="1929384"/>
            <a:ext cx="475488" cy="475488"/>
          </a:xfrm>
          <a:prstGeom prst="ellipse">
            <a:avLst/>
          </a:prstGeom>
          <a:solidFill>
            <a:srgbClr val="0E2A47"/>
          </a:solidFill>
          <a:ln/>
        </p:spPr>
        <p:txBody>
          <a:bodyPr/>
          <a:lstStyle/>
          <a:p>
            <a:endParaRPr lang="vi-VN"/>
          </a:p>
        </p:txBody>
      </p:sp>
      <p:sp>
        <p:nvSpPr>
          <p:cNvPr id="7" name="Text 5"/>
          <p:cNvSpPr/>
          <p:nvPr/>
        </p:nvSpPr>
        <p:spPr>
          <a:xfrm>
            <a:off x="731520" y="1929384"/>
            <a:ext cx="475488" cy="475488"/>
          </a:xfrm>
          <a:prstGeom prst="rect">
            <a:avLst/>
          </a:prstGeom>
          <a:noFill/>
          <a:ln/>
        </p:spPr>
        <p:txBody>
          <a:bodyPr wrap="square" lIns="0" tIns="0" rIns="0" bIns="0" rtlCol="0" anchor="ctr"/>
          <a:lstStyle/>
          <a:p>
            <a:pPr marL="0" indent="0" algn="ctr">
              <a:buNone/>
            </a:pPr>
            <a:r>
              <a:rPr lang="en-US" sz="1700" b="1" dirty="0">
                <a:solidFill>
                  <a:srgbClr val="22D3EE"/>
                </a:solidFill>
                <a:latin typeface="Trebuchet MS" pitchFamily="34" charset="0"/>
                <a:ea typeface="Trebuchet MS" pitchFamily="34" charset="-122"/>
                <a:cs typeface="Trebuchet MS" pitchFamily="34" charset="-120"/>
              </a:rPr>
              <a:t>1</a:t>
            </a:r>
            <a:endParaRPr lang="en-US" sz="1700" dirty="0"/>
          </a:p>
        </p:txBody>
      </p:sp>
      <p:sp>
        <p:nvSpPr>
          <p:cNvPr id="8" name="Text 6"/>
          <p:cNvSpPr/>
          <p:nvPr/>
        </p:nvSpPr>
        <p:spPr>
          <a:xfrm>
            <a:off x="1325880" y="1719072"/>
            <a:ext cx="2697480" cy="896112"/>
          </a:xfrm>
          <a:prstGeom prst="rect">
            <a:avLst/>
          </a:prstGeom>
          <a:noFill/>
          <a:ln/>
        </p:spPr>
        <p:txBody>
          <a:bodyPr wrap="square" lIns="0" tIns="0" rIns="0" bIns="0" rtlCol="0" anchor="ctr"/>
          <a:lstStyle/>
          <a:p>
            <a:pPr marL="0" indent="0" algn="l">
              <a:buNone/>
            </a:pPr>
            <a:r>
              <a:rPr lang="en-US" sz="1350" dirty="0">
                <a:solidFill>
                  <a:srgbClr val="1E293B"/>
                </a:solidFill>
                <a:latin typeface="Calibri" pitchFamily="34" charset="0"/>
                <a:ea typeface="Calibri" pitchFamily="34" charset="-122"/>
                <a:cs typeface="Calibri" pitchFamily="34" charset="-120"/>
              </a:rPr>
              <a:t>Soil moisture data is received by the ESP32</a:t>
            </a:r>
            <a:endParaRPr lang="en-US" sz="1350" dirty="0"/>
          </a:p>
        </p:txBody>
      </p:sp>
      <p:sp>
        <p:nvSpPr>
          <p:cNvPr id="9" name="Shape 7"/>
          <p:cNvSpPr/>
          <p:nvPr/>
        </p:nvSpPr>
        <p:spPr>
          <a:xfrm>
            <a:off x="4279392" y="1627632"/>
            <a:ext cx="3611880" cy="1078992"/>
          </a:xfrm>
          <a:prstGeom prst="rect">
            <a:avLst/>
          </a:prstGeom>
          <a:solidFill>
            <a:srgbClr val="F2F6FA"/>
          </a:solidFill>
          <a:ln w="12700">
            <a:solidFill>
              <a:srgbClr val="D7E2ED"/>
            </a:solidFill>
            <a:prstDash val="solid"/>
          </a:ln>
          <a:effectLst>
            <a:outerShdw blurRad="88900" dist="25400" dir="5400000" algn="bl" rotWithShape="0">
              <a:srgbClr val="9AB0C4">
                <a:alpha val="18000"/>
              </a:srgbClr>
            </a:outerShdw>
          </a:effectLst>
        </p:spPr>
        <p:txBody>
          <a:bodyPr/>
          <a:lstStyle/>
          <a:p>
            <a:endParaRPr lang="vi-VN"/>
          </a:p>
        </p:txBody>
      </p:sp>
      <p:sp>
        <p:nvSpPr>
          <p:cNvPr id="10" name="Shape 8"/>
          <p:cNvSpPr/>
          <p:nvPr/>
        </p:nvSpPr>
        <p:spPr>
          <a:xfrm>
            <a:off x="4462272" y="1929384"/>
            <a:ext cx="475488" cy="475488"/>
          </a:xfrm>
          <a:prstGeom prst="ellipse">
            <a:avLst/>
          </a:prstGeom>
          <a:solidFill>
            <a:srgbClr val="0E2A47"/>
          </a:solidFill>
          <a:ln/>
        </p:spPr>
        <p:txBody>
          <a:bodyPr/>
          <a:lstStyle/>
          <a:p>
            <a:endParaRPr lang="vi-VN"/>
          </a:p>
        </p:txBody>
      </p:sp>
      <p:sp>
        <p:nvSpPr>
          <p:cNvPr id="11" name="Text 9"/>
          <p:cNvSpPr/>
          <p:nvPr/>
        </p:nvSpPr>
        <p:spPr>
          <a:xfrm>
            <a:off x="4462272" y="1929384"/>
            <a:ext cx="475488" cy="475488"/>
          </a:xfrm>
          <a:prstGeom prst="rect">
            <a:avLst/>
          </a:prstGeom>
          <a:noFill/>
          <a:ln/>
        </p:spPr>
        <p:txBody>
          <a:bodyPr wrap="square" lIns="0" tIns="0" rIns="0" bIns="0" rtlCol="0" anchor="ctr"/>
          <a:lstStyle/>
          <a:p>
            <a:pPr marL="0" indent="0" algn="ctr">
              <a:buNone/>
            </a:pPr>
            <a:r>
              <a:rPr lang="en-US" sz="1700" b="1" dirty="0">
                <a:solidFill>
                  <a:srgbClr val="22D3EE"/>
                </a:solidFill>
                <a:latin typeface="Trebuchet MS" pitchFamily="34" charset="0"/>
                <a:ea typeface="Trebuchet MS" pitchFamily="34" charset="-122"/>
                <a:cs typeface="Trebuchet MS" pitchFamily="34" charset="-120"/>
              </a:rPr>
              <a:t>2</a:t>
            </a:r>
            <a:endParaRPr lang="en-US" sz="1700" dirty="0"/>
          </a:p>
        </p:txBody>
      </p:sp>
      <p:sp>
        <p:nvSpPr>
          <p:cNvPr id="12" name="Text 10"/>
          <p:cNvSpPr/>
          <p:nvPr/>
        </p:nvSpPr>
        <p:spPr>
          <a:xfrm>
            <a:off x="5056632" y="1719072"/>
            <a:ext cx="2697480" cy="896112"/>
          </a:xfrm>
          <a:prstGeom prst="rect">
            <a:avLst/>
          </a:prstGeom>
          <a:noFill/>
          <a:ln/>
        </p:spPr>
        <p:txBody>
          <a:bodyPr wrap="square" lIns="0" tIns="0" rIns="0" bIns="0" rtlCol="0" anchor="ctr"/>
          <a:lstStyle/>
          <a:p>
            <a:pPr marL="0" indent="0" algn="l">
              <a:buNone/>
            </a:pPr>
            <a:r>
              <a:rPr lang="en-US" sz="1350" dirty="0">
                <a:solidFill>
                  <a:srgbClr val="1E293B"/>
                </a:solidFill>
                <a:latin typeface="Calibri" pitchFamily="34" charset="0"/>
                <a:ea typeface="Calibri" pitchFamily="34" charset="-122"/>
                <a:cs typeface="Calibri" pitchFamily="34" charset="-120"/>
              </a:rPr>
              <a:t>ESP32 checks whether the soil is dry or wet</a:t>
            </a:r>
            <a:endParaRPr lang="en-US" sz="1350" dirty="0"/>
          </a:p>
        </p:txBody>
      </p:sp>
      <p:sp>
        <p:nvSpPr>
          <p:cNvPr id="13" name="Shape 11"/>
          <p:cNvSpPr/>
          <p:nvPr/>
        </p:nvSpPr>
        <p:spPr>
          <a:xfrm>
            <a:off x="8010144" y="1627632"/>
            <a:ext cx="3611880" cy="1078992"/>
          </a:xfrm>
          <a:prstGeom prst="rect">
            <a:avLst/>
          </a:prstGeom>
          <a:solidFill>
            <a:srgbClr val="F2F6FA"/>
          </a:solidFill>
          <a:ln w="12700">
            <a:solidFill>
              <a:srgbClr val="D7E2ED"/>
            </a:solidFill>
            <a:prstDash val="solid"/>
          </a:ln>
          <a:effectLst>
            <a:outerShdw blurRad="88900" dist="25400" dir="5400000" algn="bl" rotWithShape="0">
              <a:srgbClr val="9AB0C4">
                <a:alpha val="18000"/>
              </a:srgbClr>
            </a:outerShdw>
          </a:effectLst>
        </p:spPr>
        <p:txBody>
          <a:bodyPr/>
          <a:lstStyle/>
          <a:p>
            <a:endParaRPr lang="vi-VN"/>
          </a:p>
        </p:txBody>
      </p:sp>
      <p:sp>
        <p:nvSpPr>
          <p:cNvPr id="14" name="Shape 12"/>
          <p:cNvSpPr/>
          <p:nvPr/>
        </p:nvSpPr>
        <p:spPr>
          <a:xfrm>
            <a:off x="8193024" y="1929384"/>
            <a:ext cx="475488" cy="475488"/>
          </a:xfrm>
          <a:prstGeom prst="ellipse">
            <a:avLst/>
          </a:prstGeom>
          <a:solidFill>
            <a:srgbClr val="0E2A47"/>
          </a:solidFill>
          <a:ln/>
        </p:spPr>
        <p:txBody>
          <a:bodyPr/>
          <a:lstStyle/>
          <a:p>
            <a:endParaRPr lang="vi-VN"/>
          </a:p>
        </p:txBody>
      </p:sp>
      <p:sp>
        <p:nvSpPr>
          <p:cNvPr id="15" name="Text 13"/>
          <p:cNvSpPr/>
          <p:nvPr/>
        </p:nvSpPr>
        <p:spPr>
          <a:xfrm>
            <a:off x="8193024" y="1929384"/>
            <a:ext cx="475488" cy="475488"/>
          </a:xfrm>
          <a:prstGeom prst="rect">
            <a:avLst/>
          </a:prstGeom>
          <a:noFill/>
          <a:ln/>
        </p:spPr>
        <p:txBody>
          <a:bodyPr wrap="square" lIns="0" tIns="0" rIns="0" bIns="0" rtlCol="0" anchor="ctr"/>
          <a:lstStyle/>
          <a:p>
            <a:pPr marL="0" indent="0" algn="ctr">
              <a:buNone/>
            </a:pPr>
            <a:r>
              <a:rPr lang="en-US" sz="1700" b="1" dirty="0">
                <a:solidFill>
                  <a:srgbClr val="22D3EE"/>
                </a:solidFill>
                <a:latin typeface="Trebuchet MS" pitchFamily="34" charset="0"/>
                <a:ea typeface="Trebuchet MS" pitchFamily="34" charset="-122"/>
                <a:cs typeface="Trebuchet MS" pitchFamily="34" charset="-120"/>
              </a:rPr>
              <a:t>3</a:t>
            </a:r>
            <a:endParaRPr lang="en-US" sz="1700" dirty="0"/>
          </a:p>
        </p:txBody>
      </p:sp>
      <p:sp>
        <p:nvSpPr>
          <p:cNvPr id="16" name="Text 14"/>
          <p:cNvSpPr/>
          <p:nvPr/>
        </p:nvSpPr>
        <p:spPr>
          <a:xfrm>
            <a:off x="8787384" y="1719072"/>
            <a:ext cx="2697480" cy="896112"/>
          </a:xfrm>
          <a:prstGeom prst="rect">
            <a:avLst/>
          </a:prstGeom>
          <a:noFill/>
          <a:ln/>
        </p:spPr>
        <p:txBody>
          <a:bodyPr wrap="square" lIns="0" tIns="0" rIns="0" bIns="0" rtlCol="0" anchor="ctr"/>
          <a:lstStyle/>
          <a:p>
            <a:pPr marL="0" indent="0" algn="l">
              <a:buNone/>
            </a:pPr>
            <a:r>
              <a:rPr lang="en-US" sz="1350" dirty="0">
                <a:solidFill>
                  <a:srgbClr val="1E293B"/>
                </a:solidFill>
                <a:latin typeface="Calibri" pitchFamily="34" charset="0"/>
                <a:ea typeface="Calibri" pitchFamily="34" charset="-122"/>
                <a:cs typeface="Calibri" pitchFamily="34" charset="-120"/>
              </a:rPr>
              <a:t>The moisture value is shown on the display</a:t>
            </a:r>
            <a:endParaRPr lang="en-US" sz="1350" dirty="0"/>
          </a:p>
        </p:txBody>
      </p:sp>
      <p:sp>
        <p:nvSpPr>
          <p:cNvPr id="17" name="Shape 15"/>
          <p:cNvSpPr/>
          <p:nvPr/>
        </p:nvSpPr>
        <p:spPr>
          <a:xfrm>
            <a:off x="548640" y="2816352"/>
            <a:ext cx="3611880" cy="1078992"/>
          </a:xfrm>
          <a:prstGeom prst="rect">
            <a:avLst/>
          </a:prstGeom>
          <a:solidFill>
            <a:srgbClr val="F2F6FA"/>
          </a:solidFill>
          <a:ln w="12700">
            <a:solidFill>
              <a:srgbClr val="D7E2ED"/>
            </a:solidFill>
            <a:prstDash val="solid"/>
          </a:ln>
          <a:effectLst>
            <a:outerShdw blurRad="88900" dist="25400" dir="5400000" algn="bl" rotWithShape="0">
              <a:srgbClr val="9AB0C4">
                <a:alpha val="18000"/>
              </a:srgbClr>
            </a:outerShdw>
          </a:effectLst>
        </p:spPr>
        <p:txBody>
          <a:bodyPr/>
          <a:lstStyle/>
          <a:p>
            <a:endParaRPr lang="vi-VN"/>
          </a:p>
        </p:txBody>
      </p:sp>
      <p:sp>
        <p:nvSpPr>
          <p:cNvPr id="18" name="Shape 16"/>
          <p:cNvSpPr/>
          <p:nvPr/>
        </p:nvSpPr>
        <p:spPr>
          <a:xfrm>
            <a:off x="731520" y="3118104"/>
            <a:ext cx="475488" cy="475488"/>
          </a:xfrm>
          <a:prstGeom prst="ellipse">
            <a:avLst/>
          </a:prstGeom>
          <a:solidFill>
            <a:srgbClr val="0E2A47"/>
          </a:solidFill>
          <a:ln/>
        </p:spPr>
        <p:txBody>
          <a:bodyPr/>
          <a:lstStyle/>
          <a:p>
            <a:endParaRPr lang="vi-VN"/>
          </a:p>
        </p:txBody>
      </p:sp>
      <p:sp>
        <p:nvSpPr>
          <p:cNvPr id="19" name="Text 17"/>
          <p:cNvSpPr/>
          <p:nvPr/>
        </p:nvSpPr>
        <p:spPr>
          <a:xfrm>
            <a:off x="731520" y="3118104"/>
            <a:ext cx="475488" cy="475488"/>
          </a:xfrm>
          <a:prstGeom prst="rect">
            <a:avLst/>
          </a:prstGeom>
          <a:noFill/>
          <a:ln/>
        </p:spPr>
        <p:txBody>
          <a:bodyPr wrap="square" lIns="0" tIns="0" rIns="0" bIns="0" rtlCol="0" anchor="ctr"/>
          <a:lstStyle/>
          <a:p>
            <a:pPr marL="0" indent="0" algn="ctr">
              <a:buNone/>
            </a:pPr>
            <a:r>
              <a:rPr lang="en-US" sz="1700" b="1" dirty="0">
                <a:solidFill>
                  <a:srgbClr val="22D3EE"/>
                </a:solidFill>
                <a:latin typeface="Trebuchet MS" pitchFamily="34" charset="0"/>
                <a:ea typeface="Trebuchet MS" pitchFamily="34" charset="-122"/>
                <a:cs typeface="Trebuchet MS" pitchFamily="34" charset="-120"/>
              </a:rPr>
              <a:t>4</a:t>
            </a:r>
            <a:endParaRPr lang="en-US" sz="1700" dirty="0"/>
          </a:p>
        </p:txBody>
      </p:sp>
      <p:sp>
        <p:nvSpPr>
          <p:cNvPr id="20" name="Text 18"/>
          <p:cNvSpPr/>
          <p:nvPr/>
        </p:nvSpPr>
        <p:spPr>
          <a:xfrm>
            <a:off x="1325880" y="2907792"/>
            <a:ext cx="2697480" cy="896112"/>
          </a:xfrm>
          <a:prstGeom prst="rect">
            <a:avLst/>
          </a:prstGeom>
          <a:noFill/>
          <a:ln/>
        </p:spPr>
        <p:txBody>
          <a:bodyPr wrap="square" lIns="0" tIns="0" rIns="0" bIns="0" rtlCol="0" anchor="ctr"/>
          <a:lstStyle/>
          <a:p>
            <a:pPr marL="0" indent="0" algn="l">
              <a:buNone/>
            </a:pPr>
            <a:r>
              <a:rPr lang="en-US" sz="1350" dirty="0">
                <a:solidFill>
                  <a:srgbClr val="1E293B"/>
                </a:solidFill>
                <a:latin typeface="Calibri" pitchFamily="34" charset="0"/>
                <a:ea typeface="Calibri" pitchFamily="34" charset="-122"/>
                <a:cs typeface="Calibri" pitchFamily="34" charset="-120"/>
              </a:rPr>
              <a:t>If the soil is dry, ESP32 activates the relay</a:t>
            </a:r>
            <a:endParaRPr lang="en-US" sz="1350" dirty="0"/>
          </a:p>
        </p:txBody>
      </p:sp>
      <p:sp>
        <p:nvSpPr>
          <p:cNvPr id="21" name="Shape 19"/>
          <p:cNvSpPr/>
          <p:nvPr/>
        </p:nvSpPr>
        <p:spPr>
          <a:xfrm>
            <a:off x="4279392" y="2816352"/>
            <a:ext cx="3611880" cy="1078992"/>
          </a:xfrm>
          <a:prstGeom prst="rect">
            <a:avLst/>
          </a:prstGeom>
          <a:solidFill>
            <a:srgbClr val="F2F6FA"/>
          </a:solidFill>
          <a:ln w="12700">
            <a:solidFill>
              <a:srgbClr val="D7E2ED"/>
            </a:solidFill>
            <a:prstDash val="solid"/>
          </a:ln>
          <a:effectLst>
            <a:outerShdw blurRad="88900" dist="25400" dir="5400000" algn="bl" rotWithShape="0">
              <a:srgbClr val="9AB0C4">
                <a:alpha val="18000"/>
              </a:srgbClr>
            </a:outerShdw>
          </a:effectLst>
        </p:spPr>
        <p:txBody>
          <a:bodyPr/>
          <a:lstStyle/>
          <a:p>
            <a:endParaRPr lang="vi-VN"/>
          </a:p>
        </p:txBody>
      </p:sp>
      <p:sp>
        <p:nvSpPr>
          <p:cNvPr id="22" name="Shape 20"/>
          <p:cNvSpPr/>
          <p:nvPr/>
        </p:nvSpPr>
        <p:spPr>
          <a:xfrm>
            <a:off x="4462272" y="3118104"/>
            <a:ext cx="475488" cy="475488"/>
          </a:xfrm>
          <a:prstGeom prst="ellipse">
            <a:avLst/>
          </a:prstGeom>
          <a:solidFill>
            <a:srgbClr val="0E2A47"/>
          </a:solidFill>
          <a:ln/>
        </p:spPr>
        <p:txBody>
          <a:bodyPr/>
          <a:lstStyle/>
          <a:p>
            <a:endParaRPr lang="vi-VN"/>
          </a:p>
        </p:txBody>
      </p:sp>
      <p:sp>
        <p:nvSpPr>
          <p:cNvPr id="23" name="Text 21"/>
          <p:cNvSpPr/>
          <p:nvPr/>
        </p:nvSpPr>
        <p:spPr>
          <a:xfrm>
            <a:off x="4462272" y="3118104"/>
            <a:ext cx="475488" cy="475488"/>
          </a:xfrm>
          <a:prstGeom prst="rect">
            <a:avLst/>
          </a:prstGeom>
          <a:noFill/>
          <a:ln/>
        </p:spPr>
        <p:txBody>
          <a:bodyPr wrap="square" lIns="0" tIns="0" rIns="0" bIns="0" rtlCol="0" anchor="ctr"/>
          <a:lstStyle/>
          <a:p>
            <a:pPr marL="0" indent="0" algn="ctr">
              <a:buNone/>
            </a:pPr>
            <a:r>
              <a:rPr lang="en-US" sz="1700" b="1" dirty="0">
                <a:solidFill>
                  <a:srgbClr val="22D3EE"/>
                </a:solidFill>
                <a:latin typeface="Trebuchet MS" pitchFamily="34" charset="0"/>
                <a:ea typeface="Trebuchet MS" pitchFamily="34" charset="-122"/>
                <a:cs typeface="Trebuchet MS" pitchFamily="34" charset="-120"/>
              </a:rPr>
              <a:t>5</a:t>
            </a:r>
            <a:endParaRPr lang="en-US" sz="1700" dirty="0"/>
          </a:p>
        </p:txBody>
      </p:sp>
      <p:sp>
        <p:nvSpPr>
          <p:cNvPr id="24" name="Text 22"/>
          <p:cNvSpPr/>
          <p:nvPr/>
        </p:nvSpPr>
        <p:spPr>
          <a:xfrm>
            <a:off x="5056632" y="2907792"/>
            <a:ext cx="2697480" cy="896112"/>
          </a:xfrm>
          <a:prstGeom prst="rect">
            <a:avLst/>
          </a:prstGeom>
          <a:noFill/>
          <a:ln/>
        </p:spPr>
        <p:txBody>
          <a:bodyPr wrap="square" lIns="0" tIns="0" rIns="0" bIns="0" rtlCol="0" anchor="ctr"/>
          <a:lstStyle/>
          <a:p>
            <a:pPr marL="0" indent="0" algn="l">
              <a:buNone/>
            </a:pPr>
            <a:r>
              <a:rPr lang="en-US" sz="1350" dirty="0">
                <a:solidFill>
                  <a:srgbClr val="1E293B"/>
                </a:solidFill>
                <a:latin typeface="Calibri" pitchFamily="34" charset="0"/>
                <a:ea typeface="Calibri" pitchFamily="34" charset="-122"/>
                <a:cs typeface="Calibri" pitchFamily="34" charset="-120"/>
              </a:rPr>
              <a:t>The relay turns on the water pump</a:t>
            </a:r>
            <a:endParaRPr lang="en-US" sz="1350" dirty="0"/>
          </a:p>
        </p:txBody>
      </p:sp>
      <p:sp>
        <p:nvSpPr>
          <p:cNvPr id="25" name="Shape 23"/>
          <p:cNvSpPr/>
          <p:nvPr/>
        </p:nvSpPr>
        <p:spPr>
          <a:xfrm>
            <a:off x="8010144" y="2816352"/>
            <a:ext cx="3611880" cy="1078992"/>
          </a:xfrm>
          <a:prstGeom prst="rect">
            <a:avLst/>
          </a:prstGeom>
          <a:solidFill>
            <a:srgbClr val="F2F6FA"/>
          </a:solidFill>
          <a:ln w="12700">
            <a:solidFill>
              <a:srgbClr val="D7E2ED"/>
            </a:solidFill>
            <a:prstDash val="solid"/>
          </a:ln>
          <a:effectLst>
            <a:outerShdw blurRad="88900" dist="25400" dir="5400000" algn="bl" rotWithShape="0">
              <a:srgbClr val="9AB0C4">
                <a:alpha val="18000"/>
              </a:srgbClr>
            </a:outerShdw>
          </a:effectLst>
        </p:spPr>
        <p:txBody>
          <a:bodyPr/>
          <a:lstStyle/>
          <a:p>
            <a:endParaRPr lang="vi-VN"/>
          </a:p>
        </p:txBody>
      </p:sp>
      <p:sp>
        <p:nvSpPr>
          <p:cNvPr id="26" name="Shape 24"/>
          <p:cNvSpPr/>
          <p:nvPr/>
        </p:nvSpPr>
        <p:spPr>
          <a:xfrm>
            <a:off x="8193024" y="3118104"/>
            <a:ext cx="475488" cy="475488"/>
          </a:xfrm>
          <a:prstGeom prst="ellipse">
            <a:avLst/>
          </a:prstGeom>
          <a:solidFill>
            <a:srgbClr val="0E2A47"/>
          </a:solidFill>
          <a:ln/>
        </p:spPr>
        <p:txBody>
          <a:bodyPr/>
          <a:lstStyle/>
          <a:p>
            <a:endParaRPr lang="vi-VN"/>
          </a:p>
        </p:txBody>
      </p:sp>
      <p:sp>
        <p:nvSpPr>
          <p:cNvPr id="27" name="Text 25"/>
          <p:cNvSpPr/>
          <p:nvPr/>
        </p:nvSpPr>
        <p:spPr>
          <a:xfrm>
            <a:off x="8193024" y="3118104"/>
            <a:ext cx="475488" cy="475488"/>
          </a:xfrm>
          <a:prstGeom prst="rect">
            <a:avLst/>
          </a:prstGeom>
          <a:noFill/>
          <a:ln/>
        </p:spPr>
        <p:txBody>
          <a:bodyPr wrap="square" lIns="0" tIns="0" rIns="0" bIns="0" rtlCol="0" anchor="ctr"/>
          <a:lstStyle/>
          <a:p>
            <a:pPr marL="0" indent="0" algn="ctr">
              <a:buNone/>
            </a:pPr>
            <a:r>
              <a:rPr lang="en-US" sz="1700" b="1" dirty="0">
                <a:solidFill>
                  <a:srgbClr val="22D3EE"/>
                </a:solidFill>
                <a:latin typeface="Trebuchet MS" pitchFamily="34" charset="0"/>
                <a:ea typeface="Trebuchet MS" pitchFamily="34" charset="-122"/>
                <a:cs typeface="Trebuchet MS" pitchFamily="34" charset="-120"/>
              </a:rPr>
              <a:t>6</a:t>
            </a:r>
            <a:endParaRPr lang="en-US" sz="1700" dirty="0"/>
          </a:p>
        </p:txBody>
      </p:sp>
      <p:sp>
        <p:nvSpPr>
          <p:cNvPr id="28" name="Text 26"/>
          <p:cNvSpPr/>
          <p:nvPr/>
        </p:nvSpPr>
        <p:spPr>
          <a:xfrm>
            <a:off x="8787384" y="2907792"/>
            <a:ext cx="2697480" cy="896112"/>
          </a:xfrm>
          <a:prstGeom prst="rect">
            <a:avLst/>
          </a:prstGeom>
          <a:noFill/>
          <a:ln/>
        </p:spPr>
        <p:txBody>
          <a:bodyPr wrap="square" lIns="0" tIns="0" rIns="0" bIns="0" rtlCol="0" anchor="ctr"/>
          <a:lstStyle/>
          <a:p>
            <a:pPr marL="0" indent="0" algn="l">
              <a:buNone/>
            </a:pPr>
            <a:r>
              <a:rPr lang="en-US" sz="1350" dirty="0">
                <a:solidFill>
                  <a:srgbClr val="1E293B"/>
                </a:solidFill>
                <a:latin typeface="Calibri" pitchFamily="34" charset="0"/>
                <a:ea typeface="Calibri" pitchFamily="34" charset="-122"/>
                <a:cs typeface="Calibri" pitchFamily="34" charset="-120"/>
              </a:rPr>
              <a:t>If the soil has enough moisture, the pump stays off</a:t>
            </a:r>
            <a:endParaRPr lang="en-US" sz="1350" dirty="0"/>
          </a:p>
        </p:txBody>
      </p:sp>
      <p:sp>
        <p:nvSpPr>
          <p:cNvPr id="29" name="Shape 27"/>
          <p:cNvSpPr/>
          <p:nvPr/>
        </p:nvSpPr>
        <p:spPr>
          <a:xfrm>
            <a:off x="548640" y="4526280"/>
            <a:ext cx="11091672" cy="1417320"/>
          </a:xfrm>
          <a:prstGeom prst="rect">
            <a:avLst/>
          </a:prstGeom>
          <a:solidFill>
            <a:srgbClr val="0E2A47"/>
          </a:solidFill>
          <a:ln/>
        </p:spPr>
        <p:txBody>
          <a:bodyPr/>
          <a:lstStyle/>
          <a:p>
            <a:endParaRPr lang="vi-VN"/>
          </a:p>
        </p:txBody>
      </p:sp>
      <p:sp>
        <p:nvSpPr>
          <p:cNvPr id="30" name="Text 28"/>
          <p:cNvSpPr/>
          <p:nvPr/>
        </p:nvSpPr>
        <p:spPr>
          <a:xfrm>
            <a:off x="777240" y="4654296"/>
            <a:ext cx="4572000" cy="274320"/>
          </a:xfrm>
          <a:prstGeom prst="rect">
            <a:avLst/>
          </a:prstGeom>
          <a:noFill/>
          <a:ln/>
        </p:spPr>
        <p:txBody>
          <a:bodyPr wrap="square" lIns="0" tIns="0" rIns="0" bIns="0" rtlCol="0" anchor="ctr"/>
          <a:lstStyle/>
          <a:p>
            <a:pPr marL="0" indent="0">
              <a:buNone/>
            </a:pPr>
            <a:r>
              <a:rPr lang="en-US" sz="1150" b="1" kern="0" spc="300" dirty="0">
                <a:solidFill>
                  <a:srgbClr val="22D3EE"/>
                </a:solidFill>
                <a:latin typeface="Trebuchet MS" pitchFamily="34" charset="0"/>
                <a:ea typeface="Trebuchet MS" pitchFamily="34" charset="-122"/>
                <a:cs typeface="Trebuchet MS" pitchFamily="34" charset="-120"/>
              </a:rPr>
              <a:t>WORKFLOW DIAGRAM</a:t>
            </a:r>
            <a:endParaRPr lang="en-US" sz="1150" dirty="0"/>
          </a:p>
        </p:txBody>
      </p:sp>
      <p:sp>
        <p:nvSpPr>
          <p:cNvPr id="31" name="Shape 29"/>
          <p:cNvSpPr/>
          <p:nvPr/>
        </p:nvSpPr>
        <p:spPr>
          <a:xfrm>
            <a:off x="777240" y="5029200"/>
            <a:ext cx="1874520" cy="749808"/>
          </a:xfrm>
          <a:prstGeom prst="rect">
            <a:avLst/>
          </a:prstGeom>
          <a:solidFill>
            <a:srgbClr val="163C63"/>
          </a:solidFill>
          <a:ln w="12700">
            <a:solidFill>
              <a:srgbClr val="0EA5C4"/>
            </a:solidFill>
            <a:prstDash val="solid"/>
          </a:ln>
        </p:spPr>
        <p:txBody>
          <a:bodyPr/>
          <a:lstStyle/>
          <a:p>
            <a:endParaRPr lang="vi-VN"/>
          </a:p>
        </p:txBody>
      </p:sp>
      <p:sp>
        <p:nvSpPr>
          <p:cNvPr id="32" name="Text 30"/>
          <p:cNvSpPr/>
          <p:nvPr/>
        </p:nvSpPr>
        <p:spPr>
          <a:xfrm>
            <a:off x="777240" y="5029200"/>
            <a:ext cx="1874520" cy="749808"/>
          </a:xfrm>
          <a:prstGeom prst="rect">
            <a:avLst/>
          </a:prstGeom>
          <a:noFill/>
          <a:ln/>
        </p:spPr>
        <p:txBody>
          <a:bodyPr wrap="square" lIns="0" tIns="0" rIns="0" bIns="0" rtlCol="0" anchor="ctr"/>
          <a:lstStyle/>
          <a:p>
            <a:pPr marL="0" indent="0" algn="ctr">
              <a:lnSpc>
                <a:spcPct val="95000"/>
              </a:lnSpc>
              <a:buNone/>
            </a:pPr>
            <a:r>
              <a:rPr lang="en-US" sz="1200" b="1" dirty="0">
                <a:solidFill>
                  <a:srgbClr val="FFFFFF"/>
                </a:solidFill>
                <a:latin typeface="Trebuchet MS" pitchFamily="34" charset="0"/>
                <a:ea typeface="Trebuchet MS" pitchFamily="34" charset="-122"/>
                <a:cs typeface="Trebuchet MS" pitchFamily="34" charset="-120"/>
              </a:rPr>
              <a:t>Soil Moisture</a:t>
            </a:r>
            <a:endParaRPr lang="en-US" sz="1200" dirty="0"/>
          </a:p>
          <a:p>
            <a:pPr marL="0" indent="0" algn="ctr">
              <a:lnSpc>
                <a:spcPct val="95000"/>
              </a:lnSpc>
              <a:buNone/>
            </a:pPr>
            <a:r>
              <a:rPr lang="en-US" sz="1200" b="1" dirty="0">
                <a:solidFill>
                  <a:srgbClr val="FFFFFF"/>
                </a:solidFill>
                <a:latin typeface="Trebuchet MS" pitchFamily="34" charset="0"/>
                <a:ea typeface="Trebuchet MS" pitchFamily="34" charset="-122"/>
                <a:cs typeface="Trebuchet MS" pitchFamily="34" charset="-120"/>
              </a:rPr>
              <a:t>Data</a:t>
            </a:r>
            <a:endParaRPr lang="en-US" sz="1200" dirty="0"/>
          </a:p>
        </p:txBody>
      </p:sp>
      <p:sp>
        <p:nvSpPr>
          <p:cNvPr id="33" name="Text 31"/>
          <p:cNvSpPr/>
          <p:nvPr/>
        </p:nvSpPr>
        <p:spPr>
          <a:xfrm>
            <a:off x="2633472" y="5029200"/>
            <a:ext cx="329184" cy="749808"/>
          </a:xfrm>
          <a:prstGeom prst="rect">
            <a:avLst/>
          </a:prstGeom>
          <a:noFill/>
          <a:ln/>
        </p:spPr>
        <p:txBody>
          <a:bodyPr wrap="square" lIns="0" tIns="0" rIns="0" bIns="0" rtlCol="0" anchor="ctr"/>
          <a:lstStyle/>
          <a:p>
            <a:pPr marL="0" indent="0" algn="ctr">
              <a:buNone/>
            </a:pPr>
            <a:r>
              <a:rPr lang="en-US" sz="2400" b="1" dirty="0">
                <a:solidFill>
                  <a:srgbClr val="22D3EE"/>
                </a:solidFill>
                <a:latin typeface="Trebuchet MS" pitchFamily="34" charset="0"/>
                <a:ea typeface="Trebuchet MS" pitchFamily="34" charset="-122"/>
                <a:cs typeface="Trebuchet MS" pitchFamily="34" charset="-120"/>
              </a:rPr>
              <a:t>›</a:t>
            </a:r>
            <a:endParaRPr lang="en-US" sz="2400" dirty="0"/>
          </a:p>
        </p:txBody>
      </p:sp>
      <p:sp>
        <p:nvSpPr>
          <p:cNvPr id="34" name="Shape 32"/>
          <p:cNvSpPr/>
          <p:nvPr/>
        </p:nvSpPr>
        <p:spPr>
          <a:xfrm>
            <a:off x="2944368" y="5029200"/>
            <a:ext cx="1874520" cy="749808"/>
          </a:xfrm>
          <a:prstGeom prst="rect">
            <a:avLst/>
          </a:prstGeom>
          <a:solidFill>
            <a:srgbClr val="163C63"/>
          </a:solidFill>
          <a:ln w="12700">
            <a:solidFill>
              <a:srgbClr val="0EA5C4"/>
            </a:solidFill>
            <a:prstDash val="solid"/>
          </a:ln>
        </p:spPr>
        <p:txBody>
          <a:bodyPr/>
          <a:lstStyle/>
          <a:p>
            <a:endParaRPr lang="vi-VN"/>
          </a:p>
        </p:txBody>
      </p:sp>
      <p:sp>
        <p:nvSpPr>
          <p:cNvPr id="35" name="Text 33"/>
          <p:cNvSpPr/>
          <p:nvPr/>
        </p:nvSpPr>
        <p:spPr>
          <a:xfrm>
            <a:off x="2944368" y="5029200"/>
            <a:ext cx="1874520" cy="749808"/>
          </a:xfrm>
          <a:prstGeom prst="rect">
            <a:avLst/>
          </a:prstGeom>
          <a:noFill/>
          <a:ln/>
        </p:spPr>
        <p:txBody>
          <a:bodyPr wrap="square" lIns="0" tIns="0" rIns="0" bIns="0" rtlCol="0" anchor="ctr"/>
          <a:lstStyle/>
          <a:p>
            <a:pPr marL="0" indent="0" algn="ctr">
              <a:lnSpc>
                <a:spcPct val="95000"/>
              </a:lnSpc>
              <a:buNone/>
            </a:pPr>
            <a:r>
              <a:rPr lang="en-US" sz="1200" b="1" dirty="0">
                <a:solidFill>
                  <a:srgbClr val="FFFFFF"/>
                </a:solidFill>
                <a:latin typeface="Trebuchet MS" pitchFamily="34" charset="0"/>
                <a:ea typeface="Trebuchet MS" pitchFamily="34" charset="-122"/>
                <a:cs typeface="Trebuchet MS" pitchFamily="34" charset="-120"/>
              </a:rPr>
              <a:t>ESP32</a:t>
            </a:r>
            <a:endParaRPr lang="en-US" sz="1200" dirty="0"/>
          </a:p>
          <a:p>
            <a:pPr marL="0" indent="0" algn="ctr">
              <a:lnSpc>
                <a:spcPct val="95000"/>
              </a:lnSpc>
              <a:buNone/>
            </a:pPr>
            <a:r>
              <a:rPr lang="en-US" sz="1200" b="1" dirty="0">
                <a:solidFill>
                  <a:srgbClr val="FFFFFF"/>
                </a:solidFill>
                <a:latin typeface="Trebuchet MS" pitchFamily="34" charset="0"/>
                <a:ea typeface="Trebuchet MS" pitchFamily="34" charset="-122"/>
                <a:cs typeface="Trebuchet MS" pitchFamily="34" charset="-120"/>
              </a:rPr>
              <a:t>Processing</a:t>
            </a:r>
            <a:endParaRPr lang="en-US" sz="1200" dirty="0"/>
          </a:p>
        </p:txBody>
      </p:sp>
      <p:sp>
        <p:nvSpPr>
          <p:cNvPr id="36" name="Text 34"/>
          <p:cNvSpPr/>
          <p:nvPr/>
        </p:nvSpPr>
        <p:spPr>
          <a:xfrm>
            <a:off x="4800600" y="5029200"/>
            <a:ext cx="329184" cy="749808"/>
          </a:xfrm>
          <a:prstGeom prst="rect">
            <a:avLst/>
          </a:prstGeom>
          <a:noFill/>
          <a:ln/>
        </p:spPr>
        <p:txBody>
          <a:bodyPr wrap="square" lIns="0" tIns="0" rIns="0" bIns="0" rtlCol="0" anchor="ctr"/>
          <a:lstStyle/>
          <a:p>
            <a:pPr marL="0" indent="0" algn="ctr">
              <a:buNone/>
            </a:pPr>
            <a:r>
              <a:rPr lang="en-US" sz="2400" b="1" dirty="0">
                <a:solidFill>
                  <a:srgbClr val="22D3EE"/>
                </a:solidFill>
                <a:latin typeface="Trebuchet MS" pitchFamily="34" charset="0"/>
                <a:ea typeface="Trebuchet MS" pitchFamily="34" charset="-122"/>
                <a:cs typeface="Trebuchet MS" pitchFamily="34" charset="-120"/>
              </a:rPr>
              <a:t>›</a:t>
            </a:r>
            <a:endParaRPr lang="en-US" sz="2400" dirty="0"/>
          </a:p>
        </p:txBody>
      </p:sp>
      <p:sp>
        <p:nvSpPr>
          <p:cNvPr id="37" name="Shape 35"/>
          <p:cNvSpPr/>
          <p:nvPr/>
        </p:nvSpPr>
        <p:spPr>
          <a:xfrm>
            <a:off x="5111496" y="5029200"/>
            <a:ext cx="1874520" cy="749808"/>
          </a:xfrm>
          <a:prstGeom prst="rect">
            <a:avLst/>
          </a:prstGeom>
          <a:solidFill>
            <a:srgbClr val="163C63"/>
          </a:solidFill>
          <a:ln w="12700">
            <a:solidFill>
              <a:srgbClr val="0EA5C4"/>
            </a:solidFill>
            <a:prstDash val="solid"/>
          </a:ln>
        </p:spPr>
        <p:txBody>
          <a:bodyPr/>
          <a:lstStyle/>
          <a:p>
            <a:endParaRPr lang="vi-VN"/>
          </a:p>
        </p:txBody>
      </p:sp>
      <p:sp>
        <p:nvSpPr>
          <p:cNvPr id="38" name="Text 36"/>
          <p:cNvSpPr/>
          <p:nvPr/>
        </p:nvSpPr>
        <p:spPr>
          <a:xfrm>
            <a:off x="5111496" y="5029200"/>
            <a:ext cx="1874520" cy="749808"/>
          </a:xfrm>
          <a:prstGeom prst="rect">
            <a:avLst/>
          </a:prstGeom>
          <a:noFill/>
          <a:ln/>
        </p:spPr>
        <p:txBody>
          <a:bodyPr wrap="square" lIns="0" tIns="0" rIns="0" bIns="0" rtlCol="0" anchor="ctr"/>
          <a:lstStyle/>
          <a:p>
            <a:pPr marL="0" indent="0" algn="ctr">
              <a:lnSpc>
                <a:spcPct val="95000"/>
              </a:lnSpc>
              <a:buNone/>
            </a:pPr>
            <a:r>
              <a:rPr lang="en-US" sz="1200" b="1" dirty="0">
                <a:solidFill>
                  <a:srgbClr val="FFFFFF"/>
                </a:solidFill>
                <a:latin typeface="Trebuchet MS" pitchFamily="34" charset="0"/>
                <a:ea typeface="Trebuchet MS" pitchFamily="34" charset="-122"/>
                <a:cs typeface="Trebuchet MS" pitchFamily="34" charset="-120"/>
              </a:rPr>
              <a:t>Display</a:t>
            </a:r>
            <a:endParaRPr lang="en-US" sz="1200" dirty="0"/>
          </a:p>
          <a:p>
            <a:pPr marL="0" indent="0" algn="ctr">
              <a:lnSpc>
                <a:spcPct val="95000"/>
              </a:lnSpc>
              <a:buNone/>
            </a:pPr>
            <a:r>
              <a:rPr lang="en-US" sz="1200" b="1" dirty="0">
                <a:solidFill>
                  <a:srgbClr val="FFFFFF"/>
                </a:solidFill>
                <a:latin typeface="Trebuchet MS" pitchFamily="34" charset="0"/>
                <a:ea typeface="Trebuchet MS" pitchFamily="34" charset="-122"/>
                <a:cs typeface="Trebuchet MS" pitchFamily="34" charset="-120"/>
              </a:rPr>
              <a:t>Monitoring</a:t>
            </a:r>
            <a:endParaRPr lang="en-US" sz="1200" dirty="0"/>
          </a:p>
        </p:txBody>
      </p:sp>
      <p:sp>
        <p:nvSpPr>
          <p:cNvPr id="39" name="Text 37"/>
          <p:cNvSpPr/>
          <p:nvPr/>
        </p:nvSpPr>
        <p:spPr>
          <a:xfrm>
            <a:off x="6967728" y="5029200"/>
            <a:ext cx="329184" cy="749808"/>
          </a:xfrm>
          <a:prstGeom prst="rect">
            <a:avLst/>
          </a:prstGeom>
          <a:noFill/>
          <a:ln/>
        </p:spPr>
        <p:txBody>
          <a:bodyPr wrap="square" lIns="0" tIns="0" rIns="0" bIns="0" rtlCol="0" anchor="ctr"/>
          <a:lstStyle/>
          <a:p>
            <a:pPr marL="0" indent="0" algn="ctr">
              <a:buNone/>
            </a:pPr>
            <a:r>
              <a:rPr lang="en-US" sz="2400" b="1" dirty="0">
                <a:solidFill>
                  <a:srgbClr val="22D3EE"/>
                </a:solidFill>
                <a:latin typeface="Trebuchet MS" pitchFamily="34" charset="0"/>
                <a:ea typeface="Trebuchet MS" pitchFamily="34" charset="-122"/>
                <a:cs typeface="Trebuchet MS" pitchFamily="34" charset="-120"/>
              </a:rPr>
              <a:t>›</a:t>
            </a:r>
            <a:endParaRPr lang="en-US" sz="2400" dirty="0"/>
          </a:p>
        </p:txBody>
      </p:sp>
      <p:sp>
        <p:nvSpPr>
          <p:cNvPr id="40" name="Shape 38"/>
          <p:cNvSpPr/>
          <p:nvPr/>
        </p:nvSpPr>
        <p:spPr>
          <a:xfrm>
            <a:off x="7278624" y="5029200"/>
            <a:ext cx="1874520" cy="749808"/>
          </a:xfrm>
          <a:prstGeom prst="rect">
            <a:avLst/>
          </a:prstGeom>
          <a:solidFill>
            <a:srgbClr val="163C63"/>
          </a:solidFill>
          <a:ln w="12700">
            <a:solidFill>
              <a:srgbClr val="0EA5C4"/>
            </a:solidFill>
            <a:prstDash val="solid"/>
          </a:ln>
        </p:spPr>
        <p:txBody>
          <a:bodyPr/>
          <a:lstStyle/>
          <a:p>
            <a:endParaRPr lang="vi-VN"/>
          </a:p>
        </p:txBody>
      </p:sp>
      <p:sp>
        <p:nvSpPr>
          <p:cNvPr id="41" name="Text 39"/>
          <p:cNvSpPr/>
          <p:nvPr/>
        </p:nvSpPr>
        <p:spPr>
          <a:xfrm>
            <a:off x="7278624" y="5029200"/>
            <a:ext cx="1874520" cy="749808"/>
          </a:xfrm>
          <a:prstGeom prst="rect">
            <a:avLst/>
          </a:prstGeom>
          <a:noFill/>
          <a:ln/>
        </p:spPr>
        <p:txBody>
          <a:bodyPr wrap="square" lIns="0" tIns="0" rIns="0" bIns="0" rtlCol="0" anchor="ctr"/>
          <a:lstStyle/>
          <a:p>
            <a:pPr marL="0" indent="0" algn="ctr">
              <a:lnSpc>
                <a:spcPct val="95000"/>
              </a:lnSpc>
              <a:buNone/>
            </a:pPr>
            <a:r>
              <a:rPr lang="en-US" sz="1200" b="1" dirty="0">
                <a:solidFill>
                  <a:srgbClr val="FFFFFF"/>
                </a:solidFill>
                <a:latin typeface="Trebuchet MS" pitchFamily="34" charset="0"/>
                <a:ea typeface="Trebuchet MS" pitchFamily="34" charset="-122"/>
                <a:cs typeface="Trebuchet MS" pitchFamily="34" charset="-120"/>
              </a:rPr>
              <a:t>Relay</a:t>
            </a:r>
            <a:endParaRPr lang="en-US" sz="1200" dirty="0"/>
          </a:p>
          <a:p>
            <a:pPr marL="0" indent="0" algn="ctr">
              <a:lnSpc>
                <a:spcPct val="95000"/>
              </a:lnSpc>
              <a:buNone/>
            </a:pPr>
            <a:r>
              <a:rPr lang="en-US" sz="1200" b="1" dirty="0">
                <a:solidFill>
                  <a:srgbClr val="FFFFFF"/>
                </a:solidFill>
                <a:latin typeface="Trebuchet MS" pitchFamily="34" charset="0"/>
                <a:ea typeface="Trebuchet MS" pitchFamily="34" charset="-122"/>
                <a:cs typeface="Trebuchet MS" pitchFamily="34" charset="-120"/>
              </a:rPr>
              <a:t>Control</a:t>
            </a:r>
            <a:endParaRPr lang="en-US" sz="1200" dirty="0"/>
          </a:p>
        </p:txBody>
      </p:sp>
      <p:sp>
        <p:nvSpPr>
          <p:cNvPr id="42" name="Text 40"/>
          <p:cNvSpPr/>
          <p:nvPr/>
        </p:nvSpPr>
        <p:spPr>
          <a:xfrm>
            <a:off x="9134856" y="5029200"/>
            <a:ext cx="329184" cy="749808"/>
          </a:xfrm>
          <a:prstGeom prst="rect">
            <a:avLst/>
          </a:prstGeom>
          <a:noFill/>
          <a:ln/>
        </p:spPr>
        <p:txBody>
          <a:bodyPr wrap="square" lIns="0" tIns="0" rIns="0" bIns="0" rtlCol="0" anchor="ctr"/>
          <a:lstStyle/>
          <a:p>
            <a:pPr marL="0" indent="0" algn="ctr">
              <a:buNone/>
            </a:pPr>
            <a:r>
              <a:rPr lang="en-US" sz="2400" b="1" dirty="0">
                <a:solidFill>
                  <a:srgbClr val="22D3EE"/>
                </a:solidFill>
                <a:latin typeface="Trebuchet MS" pitchFamily="34" charset="0"/>
                <a:ea typeface="Trebuchet MS" pitchFamily="34" charset="-122"/>
                <a:cs typeface="Trebuchet MS" pitchFamily="34" charset="-120"/>
              </a:rPr>
              <a:t>›</a:t>
            </a:r>
            <a:endParaRPr lang="en-US" sz="2400" dirty="0"/>
          </a:p>
        </p:txBody>
      </p:sp>
      <p:sp>
        <p:nvSpPr>
          <p:cNvPr id="43" name="Shape 41"/>
          <p:cNvSpPr/>
          <p:nvPr/>
        </p:nvSpPr>
        <p:spPr>
          <a:xfrm>
            <a:off x="9445752" y="5029200"/>
            <a:ext cx="1874520" cy="749808"/>
          </a:xfrm>
          <a:prstGeom prst="rect">
            <a:avLst/>
          </a:prstGeom>
          <a:solidFill>
            <a:srgbClr val="0EA5C4"/>
          </a:solidFill>
          <a:ln w="12700">
            <a:solidFill>
              <a:srgbClr val="0EA5C4"/>
            </a:solidFill>
            <a:prstDash val="solid"/>
          </a:ln>
        </p:spPr>
        <p:txBody>
          <a:bodyPr/>
          <a:lstStyle/>
          <a:p>
            <a:endParaRPr lang="vi-VN"/>
          </a:p>
        </p:txBody>
      </p:sp>
      <p:sp>
        <p:nvSpPr>
          <p:cNvPr id="44" name="Text 42"/>
          <p:cNvSpPr/>
          <p:nvPr/>
        </p:nvSpPr>
        <p:spPr>
          <a:xfrm>
            <a:off x="9445752" y="5029200"/>
            <a:ext cx="1874520" cy="749808"/>
          </a:xfrm>
          <a:prstGeom prst="rect">
            <a:avLst/>
          </a:prstGeom>
          <a:noFill/>
          <a:ln/>
        </p:spPr>
        <p:txBody>
          <a:bodyPr wrap="square" lIns="0" tIns="0" rIns="0" bIns="0" rtlCol="0" anchor="ctr"/>
          <a:lstStyle/>
          <a:p>
            <a:pPr marL="0" indent="0" algn="ctr">
              <a:lnSpc>
                <a:spcPct val="95000"/>
              </a:lnSpc>
              <a:buNone/>
            </a:pPr>
            <a:r>
              <a:rPr lang="en-US" sz="1200" b="1" dirty="0">
                <a:solidFill>
                  <a:srgbClr val="FFFFFF"/>
                </a:solidFill>
                <a:latin typeface="Trebuchet MS" pitchFamily="34" charset="0"/>
                <a:ea typeface="Trebuchet MS" pitchFamily="34" charset="-122"/>
                <a:cs typeface="Trebuchet MS" pitchFamily="34" charset="-120"/>
              </a:rPr>
              <a:t>Water Pump</a:t>
            </a:r>
            <a:endParaRPr lang="en-US" sz="1200" dirty="0"/>
          </a:p>
          <a:p>
            <a:pPr marL="0" indent="0" algn="ctr">
              <a:lnSpc>
                <a:spcPct val="95000"/>
              </a:lnSpc>
              <a:buNone/>
            </a:pPr>
            <a:r>
              <a:rPr lang="en-US" sz="1200" b="1" dirty="0">
                <a:solidFill>
                  <a:srgbClr val="FFFFFF"/>
                </a:solidFill>
                <a:latin typeface="Trebuchet MS" pitchFamily="34" charset="0"/>
                <a:ea typeface="Trebuchet MS" pitchFamily="34" charset="-122"/>
                <a:cs typeface="Trebuchet MS" pitchFamily="34" charset="-120"/>
              </a:rPr>
              <a:t>ON / OFF</a:t>
            </a:r>
            <a:endParaRPr lang="en-US" sz="1200" dirty="0"/>
          </a:p>
        </p:txBody>
      </p:sp>
      <p:sp>
        <p:nvSpPr>
          <p:cNvPr id="45" name="Text 43"/>
          <p:cNvSpPr/>
          <p:nvPr/>
        </p:nvSpPr>
        <p:spPr>
          <a:xfrm>
            <a:off x="548640" y="6437376"/>
            <a:ext cx="6400800" cy="274320"/>
          </a:xfrm>
          <a:prstGeom prst="rect">
            <a:avLst/>
          </a:prstGeom>
          <a:noFill/>
          <a:ln/>
        </p:spPr>
        <p:txBody>
          <a:bodyPr wrap="square" lIns="0" tIns="0" rIns="0" bIns="0" rtlCol="0" anchor="ctr"/>
          <a:lstStyle/>
          <a:p>
            <a:pPr marL="0" indent="0" algn="l">
              <a:buNone/>
            </a:pPr>
            <a:r>
              <a:rPr lang="en-US" sz="950" dirty="0">
                <a:solidFill>
                  <a:srgbClr val="5B6B7C"/>
                </a:solidFill>
                <a:latin typeface="Calibri" pitchFamily="34" charset="0"/>
                <a:ea typeface="Calibri" pitchFamily="34" charset="-122"/>
                <a:cs typeface="Calibri" pitchFamily="34" charset="-120"/>
              </a:rPr>
              <a:t>IoT Smart Watering System</a:t>
            </a:r>
            <a:endParaRPr lang="en-US" sz="950" dirty="0"/>
          </a:p>
        </p:txBody>
      </p:sp>
      <p:sp>
        <p:nvSpPr>
          <p:cNvPr id="46" name="Text 44"/>
          <p:cNvSpPr/>
          <p:nvPr/>
        </p:nvSpPr>
        <p:spPr>
          <a:xfrm>
            <a:off x="10637215" y="6437376"/>
            <a:ext cx="1005840" cy="274320"/>
          </a:xfrm>
          <a:prstGeom prst="rect">
            <a:avLst/>
          </a:prstGeom>
          <a:noFill/>
          <a:ln/>
        </p:spPr>
        <p:txBody>
          <a:bodyPr wrap="square" lIns="0" tIns="0" rIns="0" bIns="0" rtlCol="0" anchor="ctr"/>
          <a:lstStyle/>
          <a:p>
            <a:pPr marL="0" indent="0" algn="r">
              <a:buNone/>
            </a:pPr>
            <a:r>
              <a:rPr lang="en-US" sz="950" dirty="0">
                <a:solidFill>
                  <a:srgbClr val="5B6B7C"/>
                </a:solidFill>
                <a:latin typeface="Calibri" pitchFamily="34" charset="0"/>
                <a:ea typeface="Calibri" pitchFamily="34" charset="-122"/>
                <a:cs typeface="Calibri" pitchFamily="34" charset="-120"/>
              </a:rPr>
              <a:t>4 / </a:t>
            </a:r>
            <a:r>
              <a:rPr lang="en-US" sz="950">
                <a:solidFill>
                  <a:srgbClr val="5B6B7C"/>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EA5C4"/>
          </a:solidFill>
          <a:ln/>
        </p:spPr>
        <p:txBody>
          <a:bodyPr/>
          <a:lstStyle/>
          <a:p>
            <a:endParaRPr lang="vi-VN"/>
          </a:p>
        </p:txBody>
      </p:sp>
      <p:sp>
        <p:nvSpPr>
          <p:cNvPr id="3" name="Text 1"/>
          <p:cNvSpPr/>
          <p:nvPr/>
        </p:nvSpPr>
        <p:spPr>
          <a:xfrm>
            <a:off x="548640" y="457200"/>
            <a:ext cx="7315200" cy="292608"/>
          </a:xfrm>
          <a:prstGeom prst="rect">
            <a:avLst/>
          </a:prstGeom>
          <a:noFill/>
          <a:ln/>
        </p:spPr>
        <p:txBody>
          <a:bodyPr wrap="square" lIns="0" tIns="0" rIns="0" bIns="0" rtlCol="0" anchor="ctr"/>
          <a:lstStyle/>
          <a:p>
            <a:pPr marL="0" indent="0" algn="l">
              <a:buNone/>
            </a:pPr>
            <a:r>
              <a:rPr lang="en-US" sz="1200" b="1" kern="0" spc="300" dirty="0">
                <a:solidFill>
                  <a:srgbClr val="0EA5C4"/>
                </a:solidFill>
                <a:latin typeface="Trebuchet MS" pitchFamily="34" charset="0"/>
                <a:ea typeface="Trebuchet MS" pitchFamily="34" charset="-122"/>
                <a:cs typeface="Trebuchet MS" pitchFamily="34" charset="-120"/>
              </a:rPr>
              <a:t>COMPLETED FEATURES</a:t>
            </a:r>
            <a:endParaRPr lang="en-US" sz="1200" dirty="0"/>
          </a:p>
        </p:txBody>
      </p:sp>
      <p:sp>
        <p:nvSpPr>
          <p:cNvPr id="4" name="Text 2"/>
          <p:cNvSpPr/>
          <p:nvPr/>
        </p:nvSpPr>
        <p:spPr>
          <a:xfrm>
            <a:off x="548640" y="713232"/>
            <a:ext cx="11064240" cy="640080"/>
          </a:xfrm>
          <a:prstGeom prst="rect">
            <a:avLst/>
          </a:prstGeom>
          <a:noFill/>
          <a:ln/>
        </p:spPr>
        <p:txBody>
          <a:bodyPr wrap="square" lIns="0" tIns="0" rIns="0" bIns="0" rtlCol="0" anchor="ctr"/>
          <a:lstStyle/>
          <a:p>
            <a:pPr marL="0" indent="0" algn="l">
              <a:buNone/>
            </a:pPr>
            <a:r>
              <a:rPr lang="en-US" sz="3000" b="1" dirty="0">
                <a:solidFill>
                  <a:srgbClr val="0E2A47"/>
                </a:solidFill>
                <a:latin typeface="Trebuchet MS" pitchFamily="34" charset="0"/>
                <a:ea typeface="Trebuchet MS" pitchFamily="34" charset="-122"/>
                <a:cs typeface="Trebuchet MS" pitchFamily="34" charset="-120"/>
              </a:rPr>
              <a:t>What We Have Completed</a:t>
            </a:r>
            <a:endParaRPr lang="en-US" sz="3000" dirty="0"/>
          </a:p>
        </p:txBody>
      </p:sp>
      <p:sp>
        <p:nvSpPr>
          <p:cNvPr id="5" name="Shape 3"/>
          <p:cNvSpPr/>
          <p:nvPr/>
        </p:nvSpPr>
        <p:spPr>
          <a:xfrm>
            <a:off x="548640" y="1783080"/>
            <a:ext cx="5394960" cy="914400"/>
          </a:xfrm>
          <a:prstGeom prst="rect">
            <a:avLst/>
          </a:prstGeom>
          <a:solidFill>
            <a:srgbClr val="F2F6FA"/>
          </a:solidFill>
          <a:ln w="12700">
            <a:solidFill>
              <a:srgbClr val="D7E2ED"/>
            </a:solidFill>
            <a:prstDash val="solid"/>
          </a:ln>
          <a:effectLst>
            <a:outerShdw blurRad="88900" dist="25400" dir="5400000" algn="bl" rotWithShape="0">
              <a:srgbClr val="9AB0C4">
                <a:alpha val="18000"/>
              </a:srgbClr>
            </a:outerShdw>
          </a:effectLst>
        </p:spPr>
        <p:txBody>
          <a:bodyPr/>
          <a:lstStyle/>
          <a:p>
            <a:endParaRPr lang="vi-VN"/>
          </a:p>
        </p:txBody>
      </p:sp>
      <p:sp>
        <p:nvSpPr>
          <p:cNvPr id="6" name="Shape 4"/>
          <p:cNvSpPr/>
          <p:nvPr/>
        </p:nvSpPr>
        <p:spPr>
          <a:xfrm>
            <a:off x="804672" y="2048256"/>
            <a:ext cx="384048" cy="384048"/>
          </a:xfrm>
          <a:prstGeom prst="ellipse">
            <a:avLst/>
          </a:prstGeom>
          <a:solidFill>
            <a:srgbClr val="0EA5C4"/>
          </a:solidFill>
          <a:ln/>
        </p:spPr>
        <p:txBody>
          <a:bodyPr/>
          <a:lstStyle/>
          <a:p>
            <a:endParaRPr lang="vi-VN"/>
          </a:p>
        </p:txBody>
      </p:sp>
      <p:sp>
        <p:nvSpPr>
          <p:cNvPr id="7" name="Text 5"/>
          <p:cNvSpPr/>
          <p:nvPr/>
        </p:nvSpPr>
        <p:spPr>
          <a:xfrm>
            <a:off x="804672" y="204825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a:t>
            </a:r>
            <a:endParaRPr lang="en-US" sz="1500" dirty="0"/>
          </a:p>
        </p:txBody>
      </p:sp>
      <p:sp>
        <p:nvSpPr>
          <p:cNvPr id="8" name="Text 6"/>
          <p:cNvSpPr/>
          <p:nvPr/>
        </p:nvSpPr>
        <p:spPr>
          <a:xfrm>
            <a:off x="1353312" y="1874520"/>
            <a:ext cx="4389120" cy="731520"/>
          </a:xfrm>
          <a:prstGeom prst="rect">
            <a:avLst/>
          </a:prstGeom>
          <a:noFill/>
          <a:ln/>
        </p:spPr>
        <p:txBody>
          <a:bodyPr wrap="square" lIns="0" tIns="0" rIns="0" bIns="0" rtlCol="0" anchor="ctr"/>
          <a:lstStyle/>
          <a:p>
            <a:pPr marL="0" indent="0" algn="l">
              <a:buNone/>
            </a:pPr>
            <a:r>
              <a:rPr lang="en-US" sz="1450" dirty="0">
                <a:solidFill>
                  <a:srgbClr val="1E293B"/>
                </a:solidFill>
                <a:latin typeface="Calibri" pitchFamily="34" charset="0"/>
                <a:ea typeface="Calibri" pitchFamily="34" charset="-122"/>
                <a:cs typeface="Calibri" pitchFamily="34" charset="-120"/>
              </a:rPr>
              <a:t>Connected all main components together</a:t>
            </a:r>
            <a:endParaRPr lang="en-US" sz="1450" dirty="0"/>
          </a:p>
        </p:txBody>
      </p:sp>
      <p:sp>
        <p:nvSpPr>
          <p:cNvPr id="9" name="Shape 7"/>
          <p:cNvSpPr/>
          <p:nvPr/>
        </p:nvSpPr>
        <p:spPr>
          <a:xfrm>
            <a:off x="6245352" y="1783080"/>
            <a:ext cx="5394960" cy="914400"/>
          </a:xfrm>
          <a:prstGeom prst="rect">
            <a:avLst/>
          </a:prstGeom>
          <a:solidFill>
            <a:srgbClr val="F2F6FA"/>
          </a:solidFill>
          <a:ln w="12700">
            <a:solidFill>
              <a:srgbClr val="D7E2ED"/>
            </a:solidFill>
            <a:prstDash val="solid"/>
          </a:ln>
          <a:effectLst>
            <a:outerShdw blurRad="88900" dist="25400" dir="5400000" algn="bl" rotWithShape="0">
              <a:srgbClr val="9AB0C4">
                <a:alpha val="18000"/>
              </a:srgbClr>
            </a:outerShdw>
          </a:effectLst>
        </p:spPr>
        <p:txBody>
          <a:bodyPr/>
          <a:lstStyle/>
          <a:p>
            <a:endParaRPr lang="vi-VN"/>
          </a:p>
        </p:txBody>
      </p:sp>
      <p:sp>
        <p:nvSpPr>
          <p:cNvPr id="10" name="Shape 8"/>
          <p:cNvSpPr/>
          <p:nvPr/>
        </p:nvSpPr>
        <p:spPr>
          <a:xfrm>
            <a:off x="6501384" y="2048256"/>
            <a:ext cx="384048" cy="384048"/>
          </a:xfrm>
          <a:prstGeom prst="ellipse">
            <a:avLst/>
          </a:prstGeom>
          <a:solidFill>
            <a:srgbClr val="0EA5C4"/>
          </a:solidFill>
          <a:ln/>
        </p:spPr>
        <p:txBody>
          <a:bodyPr/>
          <a:lstStyle/>
          <a:p>
            <a:endParaRPr lang="vi-VN"/>
          </a:p>
        </p:txBody>
      </p:sp>
      <p:sp>
        <p:nvSpPr>
          <p:cNvPr id="11" name="Text 9"/>
          <p:cNvSpPr/>
          <p:nvPr/>
        </p:nvSpPr>
        <p:spPr>
          <a:xfrm>
            <a:off x="6501384" y="204825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a:t>
            </a:r>
            <a:endParaRPr lang="en-US" sz="1500" dirty="0"/>
          </a:p>
        </p:txBody>
      </p:sp>
      <p:sp>
        <p:nvSpPr>
          <p:cNvPr id="12" name="Text 10"/>
          <p:cNvSpPr/>
          <p:nvPr/>
        </p:nvSpPr>
        <p:spPr>
          <a:xfrm>
            <a:off x="7050024" y="1874520"/>
            <a:ext cx="4389120" cy="731520"/>
          </a:xfrm>
          <a:prstGeom prst="rect">
            <a:avLst/>
          </a:prstGeom>
          <a:noFill/>
          <a:ln/>
        </p:spPr>
        <p:txBody>
          <a:bodyPr wrap="square" lIns="0" tIns="0" rIns="0" bIns="0" rtlCol="0" anchor="ctr"/>
          <a:lstStyle/>
          <a:p>
            <a:pPr marL="0" indent="0" algn="l">
              <a:buNone/>
            </a:pPr>
            <a:r>
              <a:rPr lang="en-US" sz="1450" dirty="0">
                <a:solidFill>
                  <a:srgbClr val="1E293B"/>
                </a:solidFill>
                <a:latin typeface="Calibri" pitchFamily="34" charset="0"/>
                <a:ea typeface="Calibri" pitchFamily="34" charset="-122"/>
                <a:cs typeface="Calibri" pitchFamily="34" charset="-120"/>
              </a:rPr>
              <a:t>Successfully controlled the water pump using ESP32</a:t>
            </a:r>
            <a:endParaRPr lang="en-US" sz="1450" dirty="0"/>
          </a:p>
        </p:txBody>
      </p:sp>
      <p:sp>
        <p:nvSpPr>
          <p:cNvPr id="13" name="Shape 11"/>
          <p:cNvSpPr/>
          <p:nvPr/>
        </p:nvSpPr>
        <p:spPr>
          <a:xfrm>
            <a:off x="548640" y="2880360"/>
            <a:ext cx="5394960" cy="914400"/>
          </a:xfrm>
          <a:prstGeom prst="rect">
            <a:avLst/>
          </a:prstGeom>
          <a:solidFill>
            <a:srgbClr val="F2F6FA"/>
          </a:solidFill>
          <a:ln w="12700">
            <a:solidFill>
              <a:srgbClr val="D7E2ED"/>
            </a:solidFill>
            <a:prstDash val="solid"/>
          </a:ln>
          <a:effectLst>
            <a:outerShdw blurRad="88900" dist="25400" dir="5400000" algn="bl" rotWithShape="0">
              <a:srgbClr val="9AB0C4">
                <a:alpha val="18000"/>
              </a:srgbClr>
            </a:outerShdw>
          </a:effectLst>
        </p:spPr>
        <p:txBody>
          <a:bodyPr/>
          <a:lstStyle/>
          <a:p>
            <a:endParaRPr lang="vi-VN"/>
          </a:p>
        </p:txBody>
      </p:sp>
      <p:sp>
        <p:nvSpPr>
          <p:cNvPr id="14" name="Shape 12"/>
          <p:cNvSpPr/>
          <p:nvPr/>
        </p:nvSpPr>
        <p:spPr>
          <a:xfrm>
            <a:off x="804672" y="3145536"/>
            <a:ext cx="384048" cy="384048"/>
          </a:xfrm>
          <a:prstGeom prst="ellipse">
            <a:avLst/>
          </a:prstGeom>
          <a:solidFill>
            <a:srgbClr val="0EA5C4"/>
          </a:solidFill>
          <a:ln/>
        </p:spPr>
        <p:txBody>
          <a:bodyPr/>
          <a:lstStyle/>
          <a:p>
            <a:endParaRPr lang="vi-VN"/>
          </a:p>
        </p:txBody>
      </p:sp>
      <p:sp>
        <p:nvSpPr>
          <p:cNvPr id="15" name="Text 13"/>
          <p:cNvSpPr/>
          <p:nvPr/>
        </p:nvSpPr>
        <p:spPr>
          <a:xfrm>
            <a:off x="804672" y="314553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a:t>
            </a:r>
            <a:endParaRPr lang="en-US" sz="1500" dirty="0"/>
          </a:p>
        </p:txBody>
      </p:sp>
      <p:sp>
        <p:nvSpPr>
          <p:cNvPr id="16" name="Text 14"/>
          <p:cNvSpPr/>
          <p:nvPr/>
        </p:nvSpPr>
        <p:spPr>
          <a:xfrm>
            <a:off x="1353312" y="2971800"/>
            <a:ext cx="4389120" cy="731520"/>
          </a:xfrm>
          <a:prstGeom prst="rect">
            <a:avLst/>
          </a:prstGeom>
          <a:noFill/>
          <a:ln/>
        </p:spPr>
        <p:txBody>
          <a:bodyPr wrap="square" lIns="0" tIns="0" rIns="0" bIns="0" rtlCol="0" anchor="ctr"/>
          <a:lstStyle/>
          <a:p>
            <a:pPr marL="0" indent="0" algn="l">
              <a:buNone/>
            </a:pPr>
            <a:r>
              <a:rPr lang="en-US" sz="1450" dirty="0">
                <a:solidFill>
                  <a:srgbClr val="1E293B"/>
                </a:solidFill>
                <a:latin typeface="Calibri" pitchFamily="34" charset="0"/>
                <a:ea typeface="Calibri" pitchFamily="34" charset="-122"/>
                <a:cs typeface="Calibri" pitchFamily="34" charset="-120"/>
              </a:rPr>
              <a:t>Pump can turn ON/OFF based on moisture data</a:t>
            </a:r>
            <a:endParaRPr lang="en-US" sz="1450" dirty="0"/>
          </a:p>
        </p:txBody>
      </p:sp>
      <p:sp>
        <p:nvSpPr>
          <p:cNvPr id="17" name="Shape 15"/>
          <p:cNvSpPr/>
          <p:nvPr/>
        </p:nvSpPr>
        <p:spPr>
          <a:xfrm>
            <a:off x="6245352" y="2880360"/>
            <a:ext cx="5394960" cy="914400"/>
          </a:xfrm>
          <a:prstGeom prst="rect">
            <a:avLst/>
          </a:prstGeom>
          <a:solidFill>
            <a:srgbClr val="F2F6FA"/>
          </a:solidFill>
          <a:ln w="12700">
            <a:solidFill>
              <a:srgbClr val="D7E2ED"/>
            </a:solidFill>
            <a:prstDash val="solid"/>
          </a:ln>
          <a:effectLst>
            <a:outerShdw blurRad="88900" dist="25400" dir="5400000" algn="bl" rotWithShape="0">
              <a:srgbClr val="9AB0C4">
                <a:alpha val="18000"/>
              </a:srgbClr>
            </a:outerShdw>
          </a:effectLst>
        </p:spPr>
        <p:txBody>
          <a:bodyPr/>
          <a:lstStyle/>
          <a:p>
            <a:endParaRPr lang="vi-VN"/>
          </a:p>
        </p:txBody>
      </p:sp>
      <p:sp>
        <p:nvSpPr>
          <p:cNvPr id="18" name="Shape 16"/>
          <p:cNvSpPr/>
          <p:nvPr/>
        </p:nvSpPr>
        <p:spPr>
          <a:xfrm>
            <a:off x="6501384" y="3145536"/>
            <a:ext cx="384048" cy="384048"/>
          </a:xfrm>
          <a:prstGeom prst="ellipse">
            <a:avLst/>
          </a:prstGeom>
          <a:solidFill>
            <a:srgbClr val="0EA5C4"/>
          </a:solidFill>
          <a:ln/>
        </p:spPr>
        <p:txBody>
          <a:bodyPr/>
          <a:lstStyle/>
          <a:p>
            <a:endParaRPr lang="vi-VN"/>
          </a:p>
        </p:txBody>
      </p:sp>
      <p:sp>
        <p:nvSpPr>
          <p:cNvPr id="19" name="Text 17"/>
          <p:cNvSpPr/>
          <p:nvPr/>
        </p:nvSpPr>
        <p:spPr>
          <a:xfrm>
            <a:off x="6501384" y="314553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a:t>
            </a:r>
            <a:endParaRPr lang="en-US" sz="1500" dirty="0"/>
          </a:p>
        </p:txBody>
      </p:sp>
      <p:sp>
        <p:nvSpPr>
          <p:cNvPr id="20" name="Text 18"/>
          <p:cNvSpPr/>
          <p:nvPr/>
        </p:nvSpPr>
        <p:spPr>
          <a:xfrm>
            <a:off x="7050024" y="2971800"/>
            <a:ext cx="4389120" cy="731520"/>
          </a:xfrm>
          <a:prstGeom prst="rect">
            <a:avLst/>
          </a:prstGeom>
          <a:noFill/>
          <a:ln/>
        </p:spPr>
        <p:txBody>
          <a:bodyPr wrap="square" lIns="0" tIns="0" rIns="0" bIns="0" rtlCol="0" anchor="ctr"/>
          <a:lstStyle/>
          <a:p>
            <a:pPr marL="0" indent="0" algn="l">
              <a:buNone/>
            </a:pPr>
            <a:r>
              <a:rPr lang="en-US" sz="1450" dirty="0">
                <a:solidFill>
                  <a:srgbClr val="1E293B"/>
                </a:solidFill>
                <a:latin typeface="Calibri" pitchFamily="34" charset="0"/>
                <a:ea typeface="Calibri" pitchFamily="34" charset="-122"/>
                <a:cs typeface="Calibri" pitchFamily="34" charset="-120"/>
              </a:rPr>
              <a:t>Display can show moisture value</a:t>
            </a:r>
            <a:endParaRPr lang="en-US" sz="1450" dirty="0"/>
          </a:p>
        </p:txBody>
      </p:sp>
      <p:sp>
        <p:nvSpPr>
          <p:cNvPr id="21" name="Shape 19"/>
          <p:cNvSpPr/>
          <p:nvPr/>
        </p:nvSpPr>
        <p:spPr>
          <a:xfrm>
            <a:off x="548640" y="3977640"/>
            <a:ext cx="5394960" cy="914400"/>
          </a:xfrm>
          <a:prstGeom prst="rect">
            <a:avLst/>
          </a:prstGeom>
          <a:solidFill>
            <a:srgbClr val="F2F6FA"/>
          </a:solidFill>
          <a:ln w="12700">
            <a:solidFill>
              <a:srgbClr val="D7E2ED"/>
            </a:solidFill>
            <a:prstDash val="solid"/>
          </a:ln>
          <a:effectLst>
            <a:outerShdw blurRad="88900" dist="25400" dir="5400000" algn="bl" rotWithShape="0">
              <a:srgbClr val="9AB0C4">
                <a:alpha val="18000"/>
              </a:srgbClr>
            </a:outerShdw>
          </a:effectLst>
        </p:spPr>
        <p:txBody>
          <a:bodyPr/>
          <a:lstStyle/>
          <a:p>
            <a:endParaRPr lang="vi-VN"/>
          </a:p>
        </p:txBody>
      </p:sp>
      <p:sp>
        <p:nvSpPr>
          <p:cNvPr id="22" name="Shape 20"/>
          <p:cNvSpPr/>
          <p:nvPr/>
        </p:nvSpPr>
        <p:spPr>
          <a:xfrm>
            <a:off x="804672" y="4242816"/>
            <a:ext cx="384048" cy="384048"/>
          </a:xfrm>
          <a:prstGeom prst="ellipse">
            <a:avLst/>
          </a:prstGeom>
          <a:solidFill>
            <a:srgbClr val="0EA5C4"/>
          </a:solidFill>
          <a:ln/>
        </p:spPr>
        <p:txBody>
          <a:bodyPr/>
          <a:lstStyle/>
          <a:p>
            <a:endParaRPr lang="vi-VN"/>
          </a:p>
        </p:txBody>
      </p:sp>
      <p:sp>
        <p:nvSpPr>
          <p:cNvPr id="23" name="Text 21"/>
          <p:cNvSpPr/>
          <p:nvPr/>
        </p:nvSpPr>
        <p:spPr>
          <a:xfrm>
            <a:off x="804672" y="42428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a:t>
            </a:r>
            <a:endParaRPr lang="en-US" sz="1500" dirty="0"/>
          </a:p>
        </p:txBody>
      </p:sp>
      <p:sp>
        <p:nvSpPr>
          <p:cNvPr id="24" name="Text 22"/>
          <p:cNvSpPr/>
          <p:nvPr/>
        </p:nvSpPr>
        <p:spPr>
          <a:xfrm>
            <a:off x="1353312" y="4069080"/>
            <a:ext cx="4389120" cy="731520"/>
          </a:xfrm>
          <a:prstGeom prst="rect">
            <a:avLst/>
          </a:prstGeom>
          <a:noFill/>
          <a:ln/>
        </p:spPr>
        <p:txBody>
          <a:bodyPr wrap="square" lIns="0" tIns="0" rIns="0" bIns="0" rtlCol="0" anchor="ctr"/>
          <a:lstStyle/>
          <a:p>
            <a:pPr marL="0" indent="0" algn="l">
              <a:buNone/>
            </a:pPr>
            <a:r>
              <a:rPr lang="en-US" sz="1450" dirty="0">
                <a:solidFill>
                  <a:srgbClr val="1E293B"/>
                </a:solidFill>
                <a:latin typeface="Calibri" pitchFamily="34" charset="0"/>
                <a:ea typeface="Calibri" pitchFamily="34" charset="-122"/>
                <a:cs typeface="Calibri" pitchFamily="34" charset="-120"/>
              </a:rPr>
              <a:t>Display can show pump/system status</a:t>
            </a:r>
            <a:endParaRPr lang="en-US" sz="1450" dirty="0"/>
          </a:p>
        </p:txBody>
      </p:sp>
      <p:sp>
        <p:nvSpPr>
          <p:cNvPr id="25" name="Shape 23"/>
          <p:cNvSpPr/>
          <p:nvPr/>
        </p:nvSpPr>
        <p:spPr>
          <a:xfrm>
            <a:off x="6245352" y="3977640"/>
            <a:ext cx="5394960" cy="914400"/>
          </a:xfrm>
          <a:prstGeom prst="rect">
            <a:avLst/>
          </a:prstGeom>
          <a:solidFill>
            <a:srgbClr val="F2F6FA"/>
          </a:solidFill>
          <a:ln w="12700">
            <a:solidFill>
              <a:srgbClr val="D7E2ED"/>
            </a:solidFill>
            <a:prstDash val="solid"/>
          </a:ln>
          <a:effectLst>
            <a:outerShdw blurRad="88900" dist="25400" dir="5400000" algn="bl" rotWithShape="0">
              <a:srgbClr val="9AB0C4">
                <a:alpha val="18000"/>
              </a:srgbClr>
            </a:outerShdw>
          </a:effectLst>
        </p:spPr>
        <p:txBody>
          <a:bodyPr/>
          <a:lstStyle/>
          <a:p>
            <a:endParaRPr lang="vi-VN"/>
          </a:p>
        </p:txBody>
      </p:sp>
      <p:sp>
        <p:nvSpPr>
          <p:cNvPr id="26" name="Shape 24"/>
          <p:cNvSpPr/>
          <p:nvPr/>
        </p:nvSpPr>
        <p:spPr>
          <a:xfrm>
            <a:off x="6501384" y="4242816"/>
            <a:ext cx="384048" cy="384048"/>
          </a:xfrm>
          <a:prstGeom prst="ellipse">
            <a:avLst/>
          </a:prstGeom>
          <a:solidFill>
            <a:srgbClr val="0EA5C4"/>
          </a:solidFill>
          <a:ln/>
        </p:spPr>
        <p:txBody>
          <a:bodyPr/>
          <a:lstStyle/>
          <a:p>
            <a:endParaRPr lang="vi-VN"/>
          </a:p>
        </p:txBody>
      </p:sp>
      <p:sp>
        <p:nvSpPr>
          <p:cNvPr id="27" name="Text 25"/>
          <p:cNvSpPr/>
          <p:nvPr/>
        </p:nvSpPr>
        <p:spPr>
          <a:xfrm>
            <a:off x="6501384" y="42428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a:t>
            </a:r>
            <a:endParaRPr lang="en-US" sz="1500" dirty="0"/>
          </a:p>
        </p:txBody>
      </p:sp>
      <p:sp>
        <p:nvSpPr>
          <p:cNvPr id="28" name="Text 26"/>
          <p:cNvSpPr/>
          <p:nvPr/>
        </p:nvSpPr>
        <p:spPr>
          <a:xfrm>
            <a:off x="7050024" y="4069080"/>
            <a:ext cx="4389120" cy="731520"/>
          </a:xfrm>
          <a:prstGeom prst="rect">
            <a:avLst/>
          </a:prstGeom>
          <a:noFill/>
          <a:ln/>
        </p:spPr>
        <p:txBody>
          <a:bodyPr wrap="square" lIns="0" tIns="0" rIns="0" bIns="0" rtlCol="0" anchor="ctr"/>
          <a:lstStyle/>
          <a:p>
            <a:pPr marL="0" indent="0" algn="l">
              <a:buNone/>
            </a:pPr>
            <a:r>
              <a:rPr lang="en-US" sz="1450" dirty="0">
                <a:solidFill>
                  <a:srgbClr val="1E293B"/>
                </a:solidFill>
                <a:latin typeface="Calibri" pitchFamily="34" charset="0"/>
                <a:ea typeface="Calibri" pitchFamily="34" charset="-122"/>
                <a:cs typeface="Calibri" pitchFamily="34" charset="-120"/>
              </a:rPr>
              <a:t>Battery switch can control system power</a:t>
            </a:r>
            <a:endParaRPr lang="en-US" sz="1450" dirty="0"/>
          </a:p>
        </p:txBody>
      </p:sp>
      <p:sp>
        <p:nvSpPr>
          <p:cNvPr id="29" name="Shape 27"/>
          <p:cNvSpPr/>
          <p:nvPr/>
        </p:nvSpPr>
        <p:spPr>
          <a:xfrm>
            <a:off x="548640" y="5074920"/>
            <a:ext cx="5394960" cy="914400"/>
          </a:xfrm>
          <a:prstGeom prst="rect">
            <a:avLst/>
          </a:prstGeom>
          <a:solidFill>
            <a:srgbClr val="F2F6FA"/>
          </a:solidFill>
          <a:ln w="12700">
            <a:solidFill>
              <a:srgbClr val="D7E2ED"/>
            </a:solidFill>
            <a:prstDash val="solid"/>
          </a:ln>
          <a:effectLst>
            <a:outerShdw blurRad="88900" dist="25400" dir="5400000" algn="bl" rotWithShape="0">
              <a:srgbClr val="9AB0C4">
                <a:alpha val="18000"/>
              </a:srgbClr>
            </a:outerShdw>
          </a:effectLst>
        </p:spPr>
        <p:txBody>
          <a:bodyPr/>
          <a:lstStyle/>
          <a:p>
            <a:endParaRPr lang="vi-VN"/>
          </a:p>
        </p:txBody>
      </p:sp>
      <p:sp>
        <p:nvSpPr>
          <p:cNvPr id="30" name="Shape 28"/>
          <p:cNvSpPr/>
          <p:nvPr/>
        </p:nvSpPr>
        <p:spPr>
          <a:xfrm>
            <a:off x="804672" y="5340096"/>
            <a:ext cx="384048" cy="384048"/>
          </a:xfrm>
          <a:prstGeom prst="ellipse">
            <a:avLst/>
          </a:prstGeom>
          <a:solidFill>
            <a:srgbClr val="0EA5C4"/>
          </a:solidFill>
          <a:ln/>
        </p:spPr>
        <p:txBody>
          <a:bodyPr/>
          <a:lstStyle/>
          <a:p>
            <a:endParaRPr lang="vi-VN"/>
          </a:p>
        </p:txBody>
      </p:sp>
      <p:sp>
        <p:nvSpPr>
          <p:cNvPr id="31" name="Text 29"/>
          <p:cNvSpPr/>
          <p:nvPr/>
        </p:nvSpPr>
        <p:spPr>
          <a:xfrm>
            <a:off x="804672" y="534009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a:t>
            </a:r>
            <a:endParaRPr lang="en-US" sz="1500" dirty="0"/>
          </a:p>
        </p:txBody>
      </p:sp>
      <p:sp>
        <p:nvSpPr>
          <p:cNvPr id="32" name="Text 30"/>
          <p:cNvSpPr/>
          <p:nvPr/>
        </p:nvSpPr>
        <p:spPr>
          <a:xfrm>
            <a:off x="1353312" y="5166360"/>
            <a:ext cx="4389120" cy="731520"/>
          </a:xfrm>
          <a:prstGeom prst="rect">
            <a:avLst/>
          </a:prstGeom>
          <a:noFill/>
          <a:ln/>
        </p:spPr>
        <p:txBody>
          <a:bodyPr wrap="square" lIns="0" tIns="0" rIns="0" bIns="0" rtlCol="0" anchor="ctr"/>
          <a:lstStyle/>
          <a:p>
            <a:pPr marL="0" indent="0" algn="l">
              <a:buNone/>
            </a:pPr>
            <a:r>
              <a:rPr lang="en-US" sz="1450" dirty="0">
                <a:solidFill>
                  <a:srgbClr val="1E293B"/>
                </a:solidFill>
                <a:latin typeface="Calibri" pitchFamily="34" charset="0"/>
                <a:ea typeface="Calibri" pitchFamily="34" charset="-122"/>
                <a:cs typeface="Calibri" pitchFamily="34" charset="-120"/>
              </a:rPr>
              <a:t>System logic works </a:t>
            </a:r>
            <a:r>
              <a:rPr lang="en-US" sz="1450">
                <a:solidFill>
                  <a:srgbClr val="1E293B"/>
                </a:solidFill>
                <a:latin typeface="Calibri" pitchFamily="34" charset="0"/>
                <a:ea typeface="Calibri" pitchFamily="34" charset="-122"/>
                <a:cs typeface="Calibri" pitchFamily="34" charset="-120"/>
              </a:rPr>
              <a:t>with live soil</a:t>
            </a:r>
            <a:r>
              <a:rPr lang="en-US" sz="1450" dirty="0">
                <a:solidFill>
                  <a:srgbClr val="1E293B"/>
                </a:solidFill>
                <a:latin typeface="Calibri" pitchFamily="34" charset="0"/>
                <a:ea typeface="Calibri" pitchFamily="34" charset="-122"/>
                <a:cs typeface="Calibri" pitchFamily="34" charset="-120"/>
              </a:rPr>
              <a:t> moisture data</a:t>
            </a:r>
            <a:endParaRPr lang="en-US" sz="1450" dirty="0"/>
          </a:p>
        </p:txBody>
      </p:sp>
      <p:sp>
        <p:nvSpPr>
          <p:cNvPr id="33" name="Shape 31"/>
          <p:cNvSpPr/>
          <p:nvPr/>
        </p:nvSpPr>
        <p:spPr>
          <a:xfrm>
            <a:off x="6245352" y="5074920"/>
            <a:ext cx="5394960" cy="914400"/>
          </a:xfrm>
          <a:prstGeom prst="rect">
            <a:avLst/>
          </a:prstGeom>
          <a:solidFill>
            <a:srgbClr val="F2F6FA"/>
          </a:solidFill>
          <a:ln w="12700">
            <a:solidFill>
              <a:srgbClr val="D7E2ED"/>
            </a:solidFill>
            <a:prstDash val="solid"/>
          </a:ln>
          <a:effectLst>
            <a:outerShdw blurRad="88900" dist="25400" dir="5400000" algn="bl" rotWithShape="0">
              <a:srgbClr val="9AB0C4">
                <a:alpha val="18000"/>
              </a:srgbClr>
            </a:outerShdw>
          </a:effectLst>
        </p:spPr>
        <p:txBody>
          <a:bodyPr/>
          <a:lstStyle/>
          <a:p>
            <a:endParaRPr lang="vi-VN"/>
          </a:p>
        </p:txBody>
      </p:sp>
      <p:sp>
        <p:nvSpPr>
          <p:cNvPr id="34" name="Shape 32"/>
          <p:cNvSpPr/>
          <p:nvPr/>
        </p:nvSpPr>
        <p:spPr>
          <a:xfrm>
            <a:off x="6501384" y="5340096"/>
            <a:ext cx="384048" cy="384048"/>
          </a:xfrm>
          <a:prstGeom prst="ellipse">
            <a:avLst/>
          </a:prstGeom>
          <a:solidFill>
            <a:srgbClr val="0EA5C4"/>
          </a:solidFill>
          <a:ln/>
        </p:spPr>
        <p:txBody>
          <a:bodyPr/>
          <a:lstStyle/>
          <a:p>
            <a:endParaRPr lang="vi-VN"/>
          </a:p>
        </p:txBody>
      </p:sp>
      <p:sp>
        <p:nvSpPr>
          <p:cNvPr id="35" name="Text 33"/>
          <p:cNvSpPr/>
          <p:nvPr/>
        </p:nvSpPr>
        <p:spPr>
          <a:xfrm>
            <a:off x="6501384" y="534009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a:t>
            </a:r>
            <a:endParaRPr lang="en-US" sz="1500" dirty="0"/>
          </a:p>
        </p:txBody>
      </p:sp>
      <p:sp>
        <p:nvSpPr>
          <p:cNvPr id="36" name="Text 34"/>
          <p:cNvSpPr/>
          <p:nvPr/>
        </p:nvSpPr>
        <p:spPr>
          <a:xfrm>
            <a:off x="7050024" y="5166360"/>
            <a:ext cx="4389120" cy="731520"/>
          </a:xfrm>
          <a:prstGeom prst="rect">
            <a:avLst/>
          </a:prstGeom>
          <a:noFill/>
          <a:ln/>
        </p:spPr>
        <p:txBody>
          <a:bodyPr wrap="square" lIns="0" tIns="0" rIns="0" bIns="0" rtlCol="0" anchor="ctr"/>
          <a:lstStyle/>
          <a:p>
            <a:pPr marL="0" indent="0" algn="l">
              <a:buNone/>
            </a:pPr>
            <a:r>
              <a:rPr lang="en-US" sz="1450" dirty="0">
                <a:solidFill>
                  <a:srgbClr val="1E293B"/>
                </a:solidFill>
                <a:latin typeface="Calibri" pitchFamily="34" charset="0"/>
                <a:ea typeface="Calibri" pitchFamily="34" charset="-122"/>
                <a:cs typeface="Calibri" pitchFamily="34" charset="-120"/>
              </a:rPr>
              <a:t>Blynk dashboard connected for remote monitoring</a:t>
            </a:r>
            <a:endParaRPr lang="en-US" sz="1450" dirty="0"/>
          </a:p>
        </p:txBody>
      </p:sp>
      <p:sp>
        <p:nvSpPr>
          <p:cNvPr id="37" name="Text 35"/>
          <p:cNvSpPr/>
          <p:nvPr/>
        </p:nvSpPr>
        <p:spPr>
          <a:xfrm>
            <a:off x="548640" y="6437376"/>
            <a:ext cx="6400800" cy="274320"/>
          </a:xfrm>
          <a:prstGeom prst="rect">
            <a:avLst/>
          </a:prstGeom>
          <a:noFill/>
          <a:ln/>
        </p:spPr>
        <p:txBody>
          <a:bodyPr wrap="square" lIns="0" tIns="0" rIns="0" bIns="0" rtlCol="0" anchor="ctr"/>
          <a:lstStyle/>
          <a:p>
            <a:pPr marL="0" indent="0" algn="l">
              <a:buNone/>
            </a:pPr>
            <a:r>
              <a:rPr lang="en-US" sz="950" dirty="0">
                <a:solidFill>
                  <a:srgbClr val="5B6B7C"/>
                </a:solidFill>
                <a:latin typeface="Calibri" pitchFamily="34" charset="0"/>
                <a:ea typeface="Calibri" pitchFamily="34" charset="-122"/>
                <a:cs typeface="Calibri" pitchFamily="34" charset="-120"/>
              </a:rPr>
              <a:t>IoT Smart Watering System</a:t>
            </a:r>
            <a:endParaRPr lang="en-US" sz="950" dirty="0"/>
          </a:p>
        </p:txBody>
      </p:sp>
      <p:sp>
        <p:nvSpPr>
          <p:cNvPr id="38" name="Text 36"/>
          <p:cNvSpPr/>
          <p:nvPr/>
        </p:nvSpPr>
        <p:spPr>
          <a:xfrm>
            <a:off x="10637215" y="6437376"/>
            <a:ext cx="1005840" cy="274320"/>
          </a:xfrm>
          <a:prstGeom prst="rect">
            <a:avLst/>
          </a:prstGeom>
          <a:noFill/>
          <a:ln/>
        </p:spPr>
        <p:txBody>
          <a:bodyPr wrap="square" lIns="0" tIns="0" rIns="0" bIns="0" rtlCol="0" anchor="ctr"/>
          <a:lstStyle/>
          <a:p>
            <a:pPr marL="0" indent="0" algn="r">
              <a:buNone/>
            </a:pPr>
            <a:r>
              <a:rPr lang="en-US" sz="950" dirty="0">
                <a:solidFill>
                  <a:srgbClr val="5B6B7C"/>
                </a:solidFill>
                <a:latin typeface="Calibri" pitchFamily="34" charset="0"/>
                <a:ea typeface="Calibri" pitchFamily="34" charset="-122"/>
                <a:cs typeface="Calibri" pitchFamily="34" charset="-120"/>
              </a:rPr>
              <a:t>5 / </a:t>
            </a:r>
            <a:r>
              <a:rPr lang="en-US" sz="950">
                <a:solidFill>
                  <a:srgbClr val="5B6B7C"/>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EA5C4"/>
          </a:solidFill>
          <a:ln/>
        </p:spPr>
        <p:txBody>
          <a:bodyPr/>
          <a:lstStyle/>
          <a:p>
            <a:endParaRPr lang="vi-VN"/>
          </a:p>
        </p:txBody>
      </p:sp>
      <p:sp>
        <p:nvSpPr>
          <p:cNvPr id="3" name="Text 1"/>
          <p:cNvSpPr/>
          <p:nvPr/>
        </p:nvSpPr>
        <p:spPr>
          <a:xfrm>
            <a:off x="548640" y="457200"/>
            <a:ext cx="7315200" cy="292608"/>
          </a:xfrm>
          <a:prstGeom prst="rect">
            <a:avLst/>
          </a:prstGeom>
          <a:noFill/>
          <a:ln/>
        </p:spPr>
        <p:txBody>
          <a:bodyPr wrap="square" lIns="0" tIns="0" rIns="0" bIns="0" rtlCol="0" anchor="ctr"/>
          <a:lstStyle/>
          <a:p>
            <a:pPr marL="0" indent="0" algn="l">
              <a:buNone/>
            </a:pPr>
            <a:r>
              <a:rPr lang="en-US" sz="1200" b="1" kern="0" spc="300" dirty="0">
                <a:solidFill>
                  <a:srgbClr val="0EA5C4"/>
                </a:solidFill>
                <a:latin typeface="Trebuchet MS" pitchFamily="34" charset="0"/>
                <a:ea typeface="Trebuchet MS" pitchFamily="34" charset="-122"/>
                <a:cs typeface="Trebuchet MS" pitchFamily="34" charset="-120"/>
              </a:rPr>
              <a:t>BLYNK DASHBOARD &amp; FUTURE</a:t>
            </a:r>
            <a:endParaRPr lang="en-US" sz="1200" dirty="0"/>
          </a:p>
        </p:txBody>
      </p:sp>
      <p:sp>
        <p:nvSpPr>
          <p:cNvPr id="4" name="Text 2"/>
          <p:cNvSpPr/>
          <p:nvPr/>
        </p:nvSpPr>
        <p:spPr>
          <a:xfrm>
            <a:off x="548640" y="713232"/>
            <a:ext cx="11064240" cy="640080"/>
          </a:xfrm>
          <a:prstGeom prst="rect">
            <a:avLst/>
          </a:prstGeom>
          <a:noFill/>
          <a:ln/>
        </p:spPr>
        <p:txBody>
          <a:bodyPr wrap="square" lIns="0" tIns="0" rIns="0" bIns="0" rtlCol="0" anchor="ctr"/>
          <a:lstStyle/>
          <a:p>
            <a:pPr marL="0" indent="0" algn="l">
              <a:buNone/>
            </a:pPr>
            <a:r>
              <a:rPr lang="en-US" sz="3000" b="1" dirty="0">
                <a:solidFill>
                  <a:srgbClr val="0E2A47"/>
                </a:solidFill>
                <a:latin typeface="Trebuchet MS" pitchFamily="34" charset="0"/>
                <a:ea typeface="Trebuchet MS" pitchFamily="34" charset="-122"/>
                <a:cs typeface="Trebuchet MS" pitchFamily="34" charset="-120"/>
              </a:rPr>
              <a:t>Future Improvement</a:t>
            </a:r>
            <a:endParaRPr lang="en-US" sz="3000" dirty="0"/>
          </a:p>
        </p:txBody>
      </p:sp>
      <p:sp>
        <p:nvSpPr>
          <p:cNvPr id="5" name="Text 3"/>
          <p:cNvSpPr/>
          <p:nvPr/>
        </p:nvSpPr>
        <p:spPr>
          <a:xfrm>
            <a:off x="548640" y="1572768"/>
            <a:ext cx="10972800" cy="411480"/>
          </a:xfrm>
          <a:prstGeom prst="rect">
            <a:avLst/>
          </a:prstGeom>
          <a:noFill/>
          <a:ln/>
        </p:spPr>
        <p:txBody>
          <a:bodyPr wrap="square" lIns="0" tIns="0" rIns="0" bIns="0" rtlCol="0" anchor="ctr"/>
          <a:lstStyle/>
          <a:p>
            <a:pPr marL="0" indent="0">
              <a:buNone/>
            </a:pPr>
            <a:r>
              <a:rPr lang="en-US" sz="1500" dirty="0">
                <a:solidFill>
                  <a:srgbClr val="5B6B7C"/>
                </a:solidFill>
                <a:latin typeface="Calibri" pitchFamily="34" charset="0"/>
                <a:ea typeface="Calibri" pitchFamily="34" charset="-122"/>
                <a:cs typeface="Calibri" pitchFamily="34" charset="-120"/>
              </a:rPr>
              <a:t>If the system is completed on time, we plan to send data to the Blynk dashboard.</a:t>
            </a:r>
            <a:endParaRPr lang="en-US" sz="1500" dirty="0"/>
          </a:p>
        </p:txBody>
      </p:sp>
      <p:sp>
        <p:nvSpPr>
          <p:cNvPr id="6" name="Shape 4"/>
          <p:cNvSpPr/>
          <p:nvPr/>
        </p:nvSpPr>
        <p:spPr>
          <a:xfrm>
            <a:off x="548640" y="2148840"/>
            <a:ext cx="5394960" cy="3657600"/>
          </a:xfrm>
          <a:prstGeom prst="rect">
            <a:avLst/>
          </a:prstGeom>
          <a:solidFill>
            <a:srgbClr val="FFFFFF"/>
          </a:solidFill>
          <a:ln w="12700">
            <a:solidFill>
              <a:srgbClr val="D7E2ED"/>
            </a:solidFill>
            <a:prstDash val="solid"/>
          </a:ln>
          <a:effectLst>
            <a:outerShdw blurRad="88900" dist="25400" dir="5400000" algn="bl" rotWithShape="0">
              <a:srgbClr val="9AB0C4">
                <a:alpha val="18000"/>
              </a:srgbClr>
            </a:outerShdw>
          </a:effectLst>
        </p:spPr>
        <p:txBody>
          <a:bodyPr/>
          <a:lstStyle/>
          <a:p>
            <a:endParaRPr lang="vi-VN"/>
          </a:p>
        </p:txBody>
      </p:sp>
      <p:sp>
        <p:nvSpPr>
          <p:cNvPr id="7" name="Shape 5"/>
          <p:cNvSpPr/>
          <p:nvPr/>
        </p:nvSpPr>
        <p:spPr>
          <a:xfrm>
            <a:off x="548640" y="2148840"/>
            <a:ext cx="5394960" cy="420624"/>
          </a:xfrm>
          <a:prstGeom prst="rect">
            <a:avLst/>
          </a:prstGeom>
          <a:solidFill>
            <a:srgbClr val="0EA5C4"/>
          </a:solidFill>
          <a:ln/>
        </p:spPr>
        <p:txBody>
          <a:bodyPr/>
          <a:lstStyle/>
          <a:p>
            <a:endParaRPr lang="vi-VN"/>
          </a:p>
        </p:txBody>
      </p:sp>
      <p:sp>
        <p:nvSpPr>
          <p:cNvPr id="8" name="Text 6"/>
          <p:cNvSpPr/>
          <p:nvPr/>
        </p:nvSpPr>
        <p:spPr>
          <a:xfrm>
            <a:off x="713232" y="2148840"/>
            <a:ext cx="5120640" cy="420624"/>
          </a:xfrm>
          <a:prstGeom prst="rect">
            <a:avLst/>
          </a:prstGeom>
          <a:noFill/>
          <a:ln/>
        </p:spPr>
        <p:txBody>
          <a:bodyPr wrap="square" lIns="0" tIns="0" rIns="0" bIns="0" rtlCol="0" anchor="ctr"/>
          <a:lstStyle/>
          <a:p>
            <a:pPr marL="0" indent="0" algn="l">
              <a:buNone/>
            </a:pPr>
            <a:r>
              <a:rPr lang="en-US" sz="1300" b="1" kern="0" spc="150" dirty="0">
                <a:solidFill>
                  <a:srgbClr val="FFFFFF"/>
                </a:solidFill>
                <a:latin typeface="Trebuchet MS" pitchFamily="34" charset="0"/>
                <a:ea typeface="Trebuchet MS" pitchFamily="34" charset="-122"/>
                <a:cs typeface="Trebuchet MS" pitchFamily="34" charset="-120"/>
              </a:rPr>
              <a:t>DASHBOARD MAY SHOW</a:t>
            </a:r>
            <a:endParaRPr lang="en-US" sz="1300" dirty="0"/>
          </a:p>
        </p:txBody>
      </p:sp>
      <p:sp>
        <p:nvSpPr>
          <p:cNvPr id="9" name="Text 7"/>
          <p:cNvSpPr/>
          <p:nvPr/>
        </p:nvSpPr>
        <p:spPr>
          <a:xfrm>
            <a:off x="868680" y="2834640"/>
            <a:ext cx="4846320" cy="2834640"/>
          </a:xfrm>
          <a:prstGeom prst="rect">
            <a:avLst/>
          </a:prstGeom>
          <a:noFill/>
          <a:ln/>
        </p:spPr>
        <p:txBody>
          <a:bodyPr wrap="square" lIns="0" tIns="0" rIns="0" bIns="0" rtlCol="0" anchor="t"/>
          <a:lstStyle/>
          <a:p>
            <a:pPr marL="203200" indent="-203200" algn="l">
              <a:spcAft>
                <a:spcPts val="1600"/>
              </a:spcAft>
              <a:buSzPct val="100000"/>
              <a:buChar char="•"/>
            </a:pPr>
            <a:r>
              <a:rPr lang="en-US" sz="1500" dirty="0">
                <a:solidFill>
                  <a:srgbClr val="1E293B"/>
                </a:solidFill>
                <a:latin typeface="Calibri" pitchFamily="34" charset="0"/>
                <a:ea typeface="Calibri" pitchFamily="34" charset="-122"/>
                <a:cs typeface="Calibri" pitchFamily="34" charset="-120"/>
              </a:rPr>
              <a:t>Soil moisture percentage</a:t>
            </a:r>
            <a:endParaRPr lang="en-US" sz="1500" dirty="0"/>
          </a:p>
          <a:p>
            <a:pPr marL="203200" indent="-203200" algn="l">
              <a:spcAft>
                <a:spcPts val="1600"/>
              </a:spcAft>
              <a:buSzPct val="100000"/>
              <a:buChar char="•"/>
            </a:pPr>
            <a:r>
              <a:rPr lang="en-US" sz="1500" dirty="0">
                <a:solidFill>
                  <a:srgbClr val="1E293B"/>
                </a:solidFill>
                <a:latin typeface="Calibri" pitchFamily="34" charset="0"/>
                <a:ea typeface="Calibri" pitchFamily="34" charset="-122"/>
                <a:cs typeface="Calibri" pitchFamily="34" charset="-120"/>
              </a:rPr>
              <a:t>Pump status: ON / OFF</a:t>
            </a:r>
            <a:endParaRPr lang="en-US" sz="1500" dirty="0"/>
          </a:p>
          <a:p>
            <a:pPr marL="203200" indent="-203200" algn="l">
              <a:spcAft>
                <a:spcPts val="1600"/>
              </a:spcAft>
              <a:buSzPct val="100000"/>
              <a:buChar char="•"/>
            </a:pPr>
            <a:r>
              <a:rPr lang="en-US" sz="1500" dirty="0">
                <a:solidFill>
                  <a:srgbClr val="1E293B"/>
                </a:solidFill>
                <a:latin typeface="Calibri" pitchFamily="34" charset="0"/>
                <a:ea typeface="Calibri" pitchFamily="34" charset="-122"/>
                <a:cs typeface="Calibri" pitchFamily="34" charset="-120"/>
              </a:rPr>
              <a:t>System status</a:t>
            </a:r>
            <a:endParaRPr lang="en-US" sz="1500" dirty="0"/>
          </a:p>
          <a:p>
            <a:pPr marL="203200" indent="-203200" algn="l">
              <a:spcAft>
                <a:spcPts val="1600"/>
              </a:spcAft>
              <a:buSzPct val="100000"/>
              <a:buChar char="•"/>
            </a:pPr>
            <a:r>
              <a:rPr lang="en-US" sz="1500" dirty="0">
                <a:solidFill>
                  <a:srgbClr val="1E293B"/>
                </a:solidFill>
                <a:latin typeface="Calibri" pitchFamily="34" charset="0"/>
                <a:ea typeface="Calibri" pitchFamily="34" charset="-122"/>
                <a:cs typeface="Calibri" pitchFamily="34" charset="-120"/>
              </a:rPr>
              <a:t>Manual or automatic control option</a:t>
            </a:r>
            <a:endParaRPr lang="en-US" sz="1500" dirty="0"/>
          </a:p>
        </p:txBody>
      </p:sp>
      <p:sp>
        <p:nvSpPr>
          <p:cNvPr id="10" name="Shape 8"/>
          <p:cNvSpPr/>
          <p:nvPr/>
        </p:nvSpPr>
        <p:spPr>
          <a:xfrm>
            <a:off x="6245352" y="2148840"/>
            <a:ext cx="5394960" cy="3657600"/>
          </a:xfrm>
          <a:prstGeom prst="rect">
            <a:avLst/>
          </a:prstGeom>
          <a:solidFill>
            <a:srgbClr val="FFFFFF"/>
          </a:solidFill>
          <a:ln w="12700">
            <a:solidFill>
              <a:srgbClr val="D7E2ED"/>
            </a:solidFill>
            <a:prstDash val="solid"/>
          </a:ln>
          <a:effectLst>
            <a:outerShdw blurRad="88900" dist="25400" dir="5400000" algn="bl" rotWithShape="0">
              <a:srgbClr val="9AB0C4">
                <a:alpha val="18000"/>
              </a:srgbClr>
            </a:outerShdw>
          </a:effectLst>
        </p:spPr>
        <p:txBody>
          <a:bodyPr/>
          <a:lstStyle/>
          <a:p>
            <a:endParaRPr lang="vi-VN"/>
          </a:p>
        </p:txBody>
      </p:sp>
      <p:sp>
        <p:nvSpPr>
          <p:cNvPr id="11" name="Shape 9"/>
          <p:cNvSpPr/>
          <p:nvPr/>
        </p:nvSpPr>
        <p:spPr>
          <a:xfrm>
            <a:off x="6245352" y="2148840"/>
            <a:ext cx="5394960" cy="420624"/>
          </a:xfrm>
          <a:prstGeom prst="rect">
            <a:avLst/>
          </a:prstGeom>
          <a:solidFill>
            <a:srgbClr val="0E2A47"/>
          </a:solidFill>
          <a:ln/>
        </p:spPr>
        <p:txBody>
          <a:bodyPr/>
          <a:lstStyle/>
          <a:p>
            <a:endParaRPr lang="vi-VN"/>
          </a:p>
        </p:txBody>
      </p:sp>
      <p:sp>
        <p:nvSpPr>
          <p:cNvPr id="12" name="Text 10"/>
          <p:cNvSpPr/>
          <p:nvPr/>
        </p:nvSpPr>
        <p:spPr>
          <a:xfrm>
            <a:off x="6409944" y="2148840"/>
            <a:ext cx="5120640" cy="420624"/>
          </a:xfrm>
          <a:prstGeom prst="rect">
            <a:avLst/>
          </a:prstGeom>
          <a:noFill/>
          <a:ln/>
        </p:spPr>
        <p:txBody>
          <a:bodyPr wrap="square" lIns="0" tIns="0" rIns="0" bIns="0" rtlCol="0" anchor="ctr"/>
          <a:lstStyle/>
          <a:p>
            <a:pPr marL="0" indent="0" algn="l">
              <a:buNone/>
            </a:pPr>
            <a:r>
              <a:rPr lang="en-US" sz="1300" b="1" kern="0" spc="150" dirty="0">
                <a:solidFill>
                  <a:srgbClr val="FFFFFF"/>
                </a:solidFill>
                <a:latin typeface="Trebuchet MS" pitchFamily="34" charset="0"/>
                <a:ea typeface="Trebuchet MS" pitchFamily="34" charset="-122"/>
                <a:cs typeface="Trebuchet MS" pitchFamily="34" charset="-120"/>
              </a:rPr>
              <a:t>FUTURE IMPROVEMENTS</a:t>
            </a:r>
            <a:endParaRPr lang="en-US" sz="1300" dirty="0"/>
          </a:p>
        </p:txBody>
      </p:sp>
      <p:sp>
        <p:nvSpPr>
          <p:cNvPr id="13" name="Text 11"/>
          <p:cNvSpPr/>
          <p:nvPr/>
        </p:nvSpPr>
        <p:spPr>
          <a:xfrm>
            <a:off x="6477000" y="2386584"/>
            <a:ext cx="4846320" cy="2834640"/>
          </a:xfrm>
          <a:prstGeom prst="rect">
            <a:avLst/>
          </a:prstGeom>
          <a:noFill/>
          <a:ln/>
        </p:spPr>
        <p:txBody>
          <a:bodyPr wrap="square" lIns="0" tIns="0" rIns="0" bIns="0" rtlCol="0" anchor="t"/>
          <a:lstStyle/>
          <a:p>
            <a:pPr algn="l">
              <a:spcAft>
                <a:spcPts val="1200"/>
              </a:spcAft>
              <a:buSzPct val="100000"/>
            </a:pPr>
            <a:endParaRPr lang="en-US" sz="1500" dirty="0"/>
          </a:p>
          <a:p>
            <a:pPr marL="203200" indent="-203200" algn="l">
              <a:spcAft>
                <a:spcPts val="1200"/>
              </a:spcAft>
              <a:buSzPct val="100000"/>
              <a:buChar char="•"/>
            </a:pPr>
            <a:r>
              <a:rPr lang="en-US" sz="1500" dirty="0">
                <a:solidFill>
                  <a:srgbClr val="1E293B"/>
                </a:solidFill>
                <a:latin typeface="Calibri" pitchFamily="34" charset="0"/>
                <a:ea typeface="Calibri" pitchFamily="34" charset="-122"/>
                <a:cs typeface="Calibri" pitchFamily="34" charset="-120"/>
              </a:rPr>
              <a:t>Add water level sensor for the water tank</a:t>
            </a:r>
            <a:endParaRPr lang="en-US" sz="1500" dirty="0"/>
          </a:p>
          <a:p>
            <a:pPr marL="203200" indent="-203200" algn="l">
              <a:spcAft>
                <a:spcPts val="1200"/>
              </a:spcAft>
              <a:buSzPct val="100000"/>
              <a:buChar char="•"/>
            </a:pPr>
            <a:r>
              <a:rPr lang="en-US" sz="1500" dirty="0">
                <a:solidFill>
                  <a:srgbClr val="1E293B"/>
                </a:solidFill>
                <a:latin typeface="Calibri" pitchFamily="34" charset="0"/>
                <a:ea typeface="Calibri" pitchFamily="34" charset="-122"/>
                <a:cs typeface="Calibri" pitchFamily="34" charset="-120"/>
              </a:rPr>
              <a:t>Improve the physical design of the control box</a:t>
            </a:r>
            <a:endParaRPr lang="en-US" sz="1500" dirty="0"/>
          </a:p>
        </p:txBody>
      </p:sp>
      <p:sp>
        <p:nvSpPr>
          <p:cNvPr id="14" name="Text 12"/>
          <p:cNvSpPr/>
          <p:nvPr/>
        </p:nvSpPr>
        <p:spPr>
          <a:xfrm>
            <a:off x="548640" y="6437376"/>
            <a:ext cx="6400800" cy="274320"/>
          </a:xfrm>
          <a:prstGeom prst="rect">
            <a:avLst/>
          </a:prstGeom>
          <a:noFill/>
          <a:ln/>
        </p:spPr>
        <p:txBody>
          <a:bodyPr wrap="square" lIns="0" tIns="0" rIns="0" bIns="0" rtlCol="0" anchor="ctr"/>
          <a:lstStyle/>
          <a:p>
            <a:pPr marL="0" indent="0" algn="l">
              <a:buNone/>
            </a:pPr>
            <a:r>
              <a:rPr lang="en-US" sz="950" dirty="0">
                <a:solidFill>
                  <a:srgbClr val="5B6B7C"/>
                </a:solidFill>
                <a:latin typeface="Calibri" pitchFamily="34" charset="0"/>
                <a:ea typeface="Calibri" pitchFamily="34" charset="-122"/>
                <a:cs typeface="Calibri" pitchFamily="34" charset="-120"/>
              </a:rPr>
              <a:t>IoT Smart Watering System</a:t>
            </a:r>
            <a:endParaRPr lang="en-US" sz="950" dirty="0"/>
          </a:p>
        </p:txBody>
      </p:sp>
      <p:sp>
        <p:nvSpPr>
          <p:cNvPr id="15" name="Text 13"/>
          <p:cNvSpPr/>
          <p:nvPr/>
        </p:nvSpPr>
        <p:spPr>
          <a:xfrm>
            <a:off x="10637215" y="6437376"/>
            <a:ext cx="1005840" cy="274320"/>
          </a:xfrm>
          <a:prstGeom prst="rect">
            <a:avLst/>
          </a:prstGeom>
          <a:noFill/>
          <a:ln/>
        </p:spPr>
        <p:txBody>
          <a:bodyPr wrap="square" lIns="0" tIns="0" rIns="0" bIns="0" rtlCol="0" anchor="ctr"/>
          <a:lstStyle/>
          <a:p>
            <a:pPr marL="0" indent="0" algn="r">
              <a:buNone/>
            </a:pPr>
            <a:r>
              <a:rPr lang="en-US" sz="950">
                <a:solidFill>
                  <a:srgbClr val="5B6B7C"/>
                </a:solidFill>
                <a:latin typeface="Calibri" pitchFamily="34" charset="0"/>
                <a:ea typeface="Calibri" pitchFamily="34" charset="-122"/>
                <a:cs typeface="Calibri" pitchFamily="34" charset="-120"/>
              </a:rPr>
              <a:t>6 / </a:t>
            </a:r>
            <a:r>
              <a:rPr lang="en-US" sz="950" dirty="0">
                <a:solidFill>
                  <a:srgbClr val="5B6B7C"/>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E2A47"/>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EA5C4"/>
          </a:solidFill>
          <a:ln/>
        </p:spPr>
        <p:txBody>
          <a:bodyPr/>
          <a:lstStyle/>
          <a:p>
            <a:endParaRPr lang="vi-VN"/>
          </a:p>
        </p:txBody>
      </p:sp>
      <p:sp>
        <p:nvSpPr>
          <p:cNvPr id="3" name="Text 1"/>
          <p:cNvSpPr/>
          <p:nvPr/>
        </p:nvSpPr>
        <p:spPr>
          <a:xfrm>
            <a:off x="548640" y="502920"/>
            <a:ext cx="7315200" cy="292608"/>
          </a:xfrm>
          <a:prstGeom prst="rect">
            <a:avLst/>
          </a:prstGeom>
          <a:noFill/>
          <a:ln/>
        </p:spPr>
        <p:txBody>
          <a:bodyPr wrap="square" lIns="0" tIns="0" rIns="0" bIns="0" rtlCol="0" anchor="ctr"/>
          <a:lstStyle/>
          <a:p>
            <a:pPr marL="0" indent="0" algn="l">
              <a:buNone/>
            </a:pPr>
            <a:r>
              <a:rPr lang="en-US" sz="1200" b="1" kern="0" spc="300" dirty="0">
                <a:solidFill>
                  <a:srgbClr val="22D3EE"/>
                </a:solidFill>
                <a:latin typeface="Trebuchet MS" pitchFamily="34" charset="0"/>
                <a:ea typeface="Trebuchet MS" pitchFamily="34" charset="-122"/>
                <a:cs typeface="Trebuchet MS" pitchFamily="34" charset="-120"/>
              </a:rPr>
              <a:t>CONCLUSION</a:t>
            </a:r>
            <a:endParaRPr lang="en-US" sz="1200" dirty="0"/>
          </a:p>
        </p:txBody>
      </p:sp>
      <p:sp>
        <p:nvSpPr>
          <p:cNvPr id="4" name="Text 2"/>
          <p:cNvSpPr/>
          <p:nvPr/>
        </p:nvSpPr>
        <p:spPr>
          <a:xfrm>
            <a:off x="548640" y="777240"/>
            <a:ext cx="10972800" cy="64008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Final Result</a:t>
            </a:r>
            <a:endParaRPr lang="en-US" sz="3200" dirty="0"/>
          </a:p>
        </p:txBody>
      </p:sp>
      <p:sp>
        <p:nvSpPr>
          <p:cNvPr id="5" name="Text 3"/>
          <p:cNvSpPr/>
          <p:nvPr/>
        </p:nvSpPr>
        <p:spPr>
          <a:xfrm>
            <a:off x="548640" y="1691640"/>
            <a:ext cx="6400800" cy="365760"/>
          </a:xfrm>
          <a:prstGeom prst="rect">
            <a:avLst/>
          </a:prstGeom>
          <a:noFill/>
          <a:ln/>
        </p:spPr>
        <p:txBody>
          <a:bodyPr wrap="square" lIns="0" tIns="0" rIns="0" bIns="0" rtlCol="0" anchor="ctr"/>
          <a:lstStyle/>
          <a:p>
            <a:pPr marL="0" indent="0">
              <a:buNone/>
            </a:pPr>
            <a:r>
              <a:rPr lang="en-US" sz="1500" dirty="0">
                <a:solidFill>
                  <a:srgbClr val="B9CCE0"/>
                </a:solidFill>
                <a:latin typeface="Calibri" pitchFamily="34" charset="0"/>
                <a:ea typeface="Calibri" pitchFamily="34" charset="-122"/>
                <a:cs typeface="Calibri" pitchFamily="34" charset="-120"/>
              </a:rPr>
              <a:t>The IoT Smart Watering System can:</a:t>
            </a:r>
            <a:endParaRPr lang="en-US" sz="1500" dirty="0"/>
          </a:p>
        </p:txBody>
      </p:sp>
      <p:sp>
        <p:nvSpPr>
          <p:cNvPr id="6" name="Shape 4"/>
          <p:cNvSpPr/>
          <p:nvPr/>
        </p:nvSpPr>
        <p:spPr>
          <a:xfrm>
            <a:off x="548640" y="2286000"/>
            <a:ext cx="274320" cy="274320"/>
          </a:xfrm>
          <a:prstGeom prst="ellipse">
            <a:avLst/>
          </a:prstGeom>
          <a:solidFill>
            <a:srgbClr val="0EA5C4"/>
          </a:solidFill>
          <a:ln/>
        </p:spPr>
        <p:txBody>
          <a:bodyPr/>
          <a:lstStyle/>
          <a:p>
            <a:endParaRPr lang="vi-VN"/>
          </a:p>
        </p:txBody>
      </p:sp>
      <p:sp>
        <p:nvSpPr>
          <p:cNvPr id="7" name="Text 5"/>
          <p:cNvSpPr/>
          <p:nvPr/>
        </p:nvSpPr>
        <p:spPr>
          <a:xfrm>
            <a:off x="548640" y="2286000"/>
            <a:ext cx="274320" cy="274320"/>
          </a:xfrm>
          <a:prstGeom prst="rect">
            <a:avLst/>
          </a:prstGeom>
          <a:noFill/>
          <a:ln/>
        </p:spPr>
        <p:txBody>
          <a:bodyPr wrap="square" lIns="0" tIns="0" rIns="0" bIns="0" rtlCol="0" anchor="ctr"/>
          <a:lstStyle/>
          <a:p>
            <a:pPr marL="0" indent="0" algn="ctr">
              <a:buNone/>
            </a:pPr>
            <a:r>
              <a:rPr lang="en-US" sz="1200" b="1" dirty="0">
                <a:solidFill>
                  <a:srgbClr val="0E2A47"/>
                </a:solidFill>
                <a:latin typeface="Trebuchet MS" pitchFamily="34" charset="0"/>
                <a:ea typeface="Trebuchet MS" pitchFamily="34" charset="-122"/>
                <a:cs typeface="Trebuchet MS" pitchFamily="34" charset="-120"/>
              </a:rPr>
              <a:t>✓</a:t>
            </a:r>
            <a:endParaRPr lang="en-US" sz="1200" dirty="0"/>
          </a:p>
        </p:txBody>
      </p:sp>
      <p:sp>
        <p:nvSpPr>
          <p:cNvPr id="8" name="Text 6"/>
          <p:cNvSpPr/>
          <p:nvPr/>
        </p:nvSpPr>
        <p:spPr>
          <a:xfrm>
            <a:off x="960120" y="2240280"/>
            <a:ext cx="5486400" cy="384048"/>
          </a:xfrm>
          <a:prstGeom prst="rect">
            <a:avLst/>
          </a:prstGeom>
          <a:noFill/>
          <a:ln/>
        </p:spPr>
        <p:txBody>
          <a:bodyPr wrap="square" lIns="0" tIns="0" rIns="0" bIns="0" rtlCol="0" anchor="ctr"/>
          <a:lstStyle/>
          <a:p>
            <a:pPr marL="0" indent="0" algn="l">
              <a:buNone/>
            </a:pPr>
            <a:r>
              <a:rPr lang="en-US" sz="1550" dirty="0">
                <a:solidFill>
                  <a:srgbClr val="FFFFFF"/>
                </a:solidFill>
                <a:latin typeface="Calibri" pitchFamily="34" charset="0"/>
                <a:ea typeface="Calibri" pitchFamily="34" charset="-122"/>
                <a:cs typeface="Calibri" pitchFamily="34" charset="-120"/>
              </a:rPr>
              <a:t>Process soil moisture data</a:t>
            </a:r>
            <a:endParaRPr lang="en-US" sz="1550" dirty="0"/>
          </a:p>
        </p:txBody>
      </p:sp>
      <p:sp>
        <p:nvSpPr>
          <p:cNvPr id="9" name="Shape 7"/>
          <p:cNvSpPr/>
          <p:nvPr/>
        </p:nvSpPr>
        <p:spPr>
          <a:xfrm>
            <a:off x="548640" y="2852928"/>
            <a:ext cx="274320" cy="274320"/>
          </a:xfrm>
          <a:prstGeom prst="ellipse">
            <a:avLst/>
          </a:prstGeom>
          <a:solidFill>
            <a:srgbClr val="0EA5C4"/>
          </a:solidFill>
          <a:ln/>
        </p:spPr>
        <p:txBody>
          <a:bodyPr/>
          <a:lstStyle/>
          <a:p>
            <a:endParaRPr lang="vi-VN"/>
          </a:p>
        </p:txBody>
      </p:sp>
      <p:sp>
        <p:nvSpPr>
          <p:cNvPr id="10" name="Text 8"/>
          <p:cNvSpPr/>
          <p:nvPr/>
        </p:nvSpPr>
        <p:spPr>
          <a:xfrm>
            <a:off x="548640" y="2852928"/>
            <a:ext cx="274320" cy="274320"/>
          </a:xfrm>
          <a:prstGeom prst="rect">
            <a:avLst/>
          </a:prstGeom>
          <a:noFill/>
          <a:ln/>
        </p:spPr>
        <p:txBody>
          <a:bodyPr wrap="square" lIns="0" tIns="0" rIns="0" bIns="0" rtlCol="0" anchor="ctr"/>
          <a:lstStyle/>
          <a:p>
            <a:pPr marL="0" indent="0" algn="ctr">
              <a:buNone/>
            </a:pPr>
            <a:r>
              <a:rPr lang="en-US" sz="1200" b="1" dirty="0">
                <a:solidFill>
                  <a:srgbClr val="0E2A47"/>
                </a:solidFill>
                <a:latin typeface="Trebuchet MS" pitchFamily="34" charset="0"/>
                <a:ea typeface="Trebuchet MS" pitchFamily="34" charset="-122"/>
                <a:cs typeface="Trebuchet MS" pitchFamily="34" charset="-120"/>
              </a:rPr>
              <a:t>✓</a:t>
            </a:r>
            <a:endParaRPr lang="en-US" sz="1200" dirty="0"/>
          </a:p>
        </p:txBody>
      </p:sp>
      <p:sp>
        <p:nvSpPr>
          <p:cNvPr id="11" name="Text 9"/>
          <p:cNvSpPr/>
          <p:nvPr/>
        </p:nvSpPr>
        <p:spPr>
          <a:xfrm>
            <a:off x="960120" y="2807208"/>
            <a:ext cx="5486400" cy="384048"/>
          </a:xfrm>
          <a:prstGeom prst="rect">
            <a:avLst/>
          </a:prstGeom>
          <a:noFill/>
          <a:ln/>
        </p:spPr>
        <p:txBody>
          <a:bodyPr wrap="square" lIns="0" tIns="0" rIns="0" bIns="0" rtlCol="0" anchor="ctr"/>
          <a:lstStyle/>
          <a:p>
            <a:pPr marL="0" indent="0" algn="l">
              <a:buNone/>
            </a:pPr>
            <a:r>
              <a:rPr lang="en-US" sz="1550" dirty="0">
                <a:solidFill>
                  <a:srgbClr val="FFFFFF"/>
                </a:solidFill>
                <a:latin typeface="Calibri" pitchFamily="34" charset="0"/>
                <a:ea typeface="Calibri" pitchFamily="34" charset="-122"/>
                <a:cs typeface="Calibri" pitchFamily="34" charset="-120"/>
              </a:rPr>
              <a:t>Display moisture value and system status</a:t>
            </a:r>
            <a:endParaRPr lang="en-US" sz="1550" dirty="0"/>
          </a:p>
        </p:txBody>
      </p:sp>
      <p:sp>
        <p:nvSpPr>
          <p:cNvPr id="12" name="Shape 10"/>
          <p:cNvSpPr/>
          <p:nvPr/>
        </p:nvSpPr>
        <p:spPr>
          <a:xfrm>
            <a:off x="548640" y="3419856"/>
            <a:ext cx="274320" cy="274320"/>
          </a:xfrm>
          <a:prstGeom prst="ellipse">
            <a:avLst/>
          </a:prstGeom>
          <a:solidFill>
            <a:srgbClr val="0EA5C4"/>
          </a:solidFill>
          <a:ln/>
        </p:spPr>
        <p:txBody>
          <a:bodyPr/>
          <a:lstStyle/>
          <a:p>
            <a:endParaRPr lang="vi-VN"/>
          </a:p>
        </p:txBody>
      </p:sp>
      <p:sp>
        <p:nvSpPr>
          <p:cNvPr id="13" name="Text 11"/>
          <p:cNvSpPr/>
          <p:nvPr/>
        </p:nvSpPr>
        <p:spPr>
          <a:xfrm>
            <a:off x="548640" y="3419856"/>
            <a:ext cx="274320" cy="274320"/>
          </a:xfrm>
          <a:prstGeom prst="rect">
            <a:avLst/>
          </a:prstGeom>
          <a:noFill/>
          <a:ln/>
        </p:spPr>
        <p:txBody>
          <a:bodyPr wrap="square" lIns="0" tIns="0" rIns="0" bIns="0" rtlCol="0" anchor="ctr"/>
          <a:lstStyle/>
          <a:p>
            <a:pPr marL="0" indent="0" algn="ctr">
              <a:buNone/>
            </a:pPr>
            <a:r>
              <a:rPr lang="en-US" sz="1200" b="1" dirty="0">
                <a:solidFill>
                  <a:srgbClr val="0E2A47"/>
                </a:solidFill>
                <a:latin typeface="Trebuchet MS" pitchFamily="34" charset="0"/>
                <a:ea typeface="Trebuchet MS" pitchFamily="34" charset="-122"/>
                <a:cs typeface="Trebuchet MS" pitchFamily="34" charset="-120"/>
              </a:rPr>
              <a:t>✓</a:t>
            </a:r>
            <a:endParaRPr lang="en-US" sz="1200" dirty="0"/>
          </a:p>
        </p:txBody>
      </p:sp>
      <p:sp>
        <p:nvSpPr>
          <p:cNvPr id="14" name="Text 12"/>
          <p:cNvSpPr/>
          <p:nvPr/>
        </p:nvSpPr>
        <p:spPr>
          <a:xfrm>
            <a:off x="960120" y="3374136"/>
            <a:ext cx="5486400" cy="384048"/>
          </a:xfrm>
          <a:prstGeom prst="rect">
            <a:avLst/>
          </a:prstGeom>
          <a:noFill/>
          <a:ln/>
        </p:spPr>
        <p:txBody>
          <a:bodyPr wrap="square" lIns="0" tIns="0" rIns="0" bIns="0" rtlCol="0" anchor="ctr"/>
          <a:lstStyle/>
          <a:p>
            <a:pPr marL="0" indent="0" algn="l">
              <a:buNone/>
            </a:pPr>
            <a:r>
              <a:rPr lang="en-US" sz="1550" dirty="0">
                <a:solidFill>
                  <a:srgbClr val="FFFFFF"/>
                </a:solidFill>
                <a:latin typeface="Calibri" pitchFamily="34" charset="0"/>
                <a:ea typeface="Calibri" pitchFamily="34" charset="-122"/>
                <a:cs typeface="Calibri" pitchFamily="34" charset="-120"/>
              </a:rPr>
              <a:t>Control the water pump automatically</a:t>
            </a:r>
            <a:endParaRPr lang="en-US" sz="1550" dirty="0"/>
          </a:p>
        </p:txBody>
      </p:sp>
      <p:sp>
        <p:nvSpPr>
          <p:cNvPr id="15" name="Shape 13"/>
          <p:cNvSpPr/>
          <p:nvPr/>
        </p:nvSpPr>
        <p:spPr>
          <a:xfrm>
            <a:off x="548640" y="3986784"/>
            <a:ext cx="274320" cy="274320"/>
          </a:xfrm>
          <a:prstGeom prst="ellipse">
            <a:avLst/>
          </a:prstGeom>
          <a:solidFill>
            <a:srgbClr val="0EA5C4"/>
          </a:solidFill>
          <a:ln/>
        </p:spPr>
        <p:txBody>
          <a:bodyPr/>
          <a:lstStyle/>
          <a:p>
            <a:endParaRPr lang="vi-VN"/>
          </a:p>
        </p:txBody>
      </p:sp>
      <p:sp>
        <p:nvSpPr>
          <p:cNvPr id="16" name="Text 14"/>
          <p:cNvSpPr/>
          <p:nvPr/>
        </p:nvSpPr>
        <p:spPr>
          <a:xfrm>
            <a:off x="548640" y="3986784"/>
            <a:ext cx="274320" cy="274320"/>
          </a:xfrm>
          <a:prstGeom prst="rect">
            <a:avLst/>
          </a:prstGeom>
          <a:noFill/>
          <a:ln/>
        </p:spPr>
        <p:txBody>
          <a:bodyPr wrap="square" lIns="0" tIns="0" rIns="0" bIns="0" rtlCol="0" anchor="ctr"/>
          <a:lstStyle/>
          <a:p>
            <a:pPr marL="0" indent="0" algn="ctr">
              <a:buNone/>
            </a:pPr>
            <a:r>
              <a:rPr lang="en-US" sz="1200" b="1" dirty="0">
                <a:solidFill>
                  <a:srgbClr val="0E2A47"/>
                </a:solidFill>
                <a:latin typeface="Trebuchet MS" pitchFamily="34" charset="0"/>
                <a:ea typeface="Trebuchet MS" pitchFamily="34" charset="-122"/>
                <a:cs typeface="Trebuchet MS" pitchFamily="34" charset="-120"/>
              </a:rPr>
              <a:t>✓</a:t>
            </a:r>
            <a:endParaRPr lang="en-US" sz="1200" dirty="0"/>
          </a:p>
        </p:txBody>
      </p:sp>
      <p:sp>
        <p:nvSpPr>
          <p:cNvPr id="17" name="Text 15"/>
          <p:cNvSpPr/>
          <p:nvPr/>
        </p:nvSpPr>
        <p:spPr>
          <a:xfrm>
            <a:off x="960120" y="3941064"/>
            <a:ext cx="5486400" cy="384048"/>
          </a:xfrm>
          <a:prstGeom prst="rect">
            <a:avLst/>
          </a:prstGeom>
          <a:noFill/>
          <a:ln/>
        </p:spPr>
        <p:txBody>
          <a:bodyPr wrap="square" lIns="0" tIns="0" rIns="0" bIns="0" rtlCol="0" anchor="ctr"/>
          <a:lstStyle/>
          <a:p>
            <a:pPr marL="0" indent="0" algn="l">
              <a:buNone/>
            </a:pPr>
            <a:r>
              <a:rPr lang="en-US" sz="1550" dirty="0">
                <a:solidFill>
                  <a:srgbClr val="FFFFFF"/>
                </a:solidFill>
                <a:latin typeface="Calibri" pitchFamily="34" charset="0"/>
                <a:ea typeface="Calibri" pitchFamily="34" charset="-122"/>
                <a:cs typeface="Calibri" pitchFamily="34" charset="-120"/>
              </a:rPr>
              <a:t>Demonstrate smart watering logic</a:t>
            </a:r>
            <a:endParaRPr lang="en-US" sz="1550" dirty="0"/>
          </a:p>
        </p:txBody>
      </p:sp>
      <p:sp>
        <p:nvSpPr>
          <p:cNvPr id="18" name="Shape 16"/>
          <p:cNvSpPr/>
          <p:nvPr/>
        </p:nvSpPr>
        <p:spPr>
          <a:xfrm>
            <a:off x="548640" y="4553712"/>
            <a:ext cx="274320" cy="274320"/>
          </a:xfrm>
          <a:prstGeom prst="ellipse">
            <a:avLst/>
          </a:prstGeom>
          <a:solidFill>
            <a:srgbClr val="0EA5C4"/>
          </a:solidFill>
          <a:ln/>
        </p:spPr>
        <p:txBody>
          <a:bodyPr/>
          <a:lstStyle/>
          <a:p>
            <a:endParaRPr lang="vi-VN"/>
          </a:p>
        </p:txBody>
      </p:sp>
      <p:sp>
        <p:nvSpPr>
          <p:cNvPr id="19" name="Text 17"/>
          <p:cNvSpPr/>
          <p:nvPr/>
        </p:nvSpPr>
        <p:spPr>
          <a:xfrm>
            <a:off x="548640" y="4553712"/>
            <a:ext cx="274320" cy="274320"/>
          </a:xfrm>
          <a:prstGeom prst="rect">
            <a:avLst/>
          </a:prstGeom>
          <a:noFill/>
          <a:ln/>
        </p:spPr>
        <p:txBody>
          <a:bodyPr wrap="square" lIns="0" tIns="0" rIns="0" bIns="0" rtlCol="0" anchor="ctr"/>
          <a:lstStyle/>
          <a:p>
            <a:pPr marL="0" indent="0" algn="ctr">
              <a:buNone/>
            </a:pPr>
            <a:r>
              <a:rPr lang="en-US" sz="1200" b="1" dirty="0">
                <a:solidFill>
                  <a:srgbClr val="0E2A47"/>
                </a:solidFill>
                <a:latin typeface="Trebuchet MS" pitchFamily="34" charset="0"/>
                <a:ea typeface="Trebuchet MS" pitchFamily="34" charset="-122"/>
                <a:cs typeface="Trebuchet MS" pitchFamily="34" charset="-120"/>
              </a:rPr>
              <a:t>✓</a:t>
            </a:r>
            <a:endParaRPr lang="en-US" sz="1200" dirty="0"/>
          </a:p>
        </p:txBody>
      </p:sp>
      <p:sp>
        <p:nvSpPr>
          <p:cNvPr id="20" name="Text 18"/>
          <p:cNvSpPr/>
          <p:nvPr/>
        </p:nvSpPr>
        <p:spPr>
          <a:xfrm>
            <a:off x="960120" y="4507992"/>
            <a:ext cx="5486400" cy="384048"/>
          </a:xfrm>
          <a:prstGeom prst="rect">
            <a:avLst/>
          </a:prstGeom>
          <a:noFill/>
          <a:ln/>
        </p:spPr>
        <p:txBody>
          <a:bodyPr wrap="square" lIns="0" tIns="0" rIns="0" bIns="0" rtlCol="0" anchor="ctr"/>
          <a:lstStyle/>
          <a:p>
            <a:pPr marL="0" indent="0" algn="l">
              <a:buNone/>
            </a:pPr>
            <a:r>
              <a:rPr lang="en-US" sz="1550" dirty="0">
                <a:solidFill>
                  <a:srgbClr val="FFFFFF"/>
                </a:solidFill>
                <a:latin typeface="Calibri" pitchFamily="34" charset="0"/>
                <a:ea typeface="Calibri" pitchFamily="34" charset="-122"/>
                <a:cs typeface="Calibri" pitchFamily="34" charset="-120"/>
              </a:rPr>
              <a:t>Support future IoT dashboard monitoring</a:t>
            </a:r>
            <a:endParaRPr lang="en-US" sz="1550" dirty="0"/>
          </a:p>
        </p:txBody>
      </p:sp>
      <p:sp>
        <p:nvSpPr>
          <p:cNvPr id="21" name="Shape 19"/>
          <p:cNvSpPr/>
          <p:nvPr/>
        </p:nvSpPr>
        <p:spPr>
          <a:xfrm>
            <a:off x="7040880" y="1691640"/>
            <a:ext cx="4599432" cy="4160520"/>
          </a:xfrm>
          <a:prstGeom prst="rect">
            <a:avLst/>
          </a:prstGeom>
          <a:solidFill>
            <a:srgbClr val="0A1F38"/>
          </a:solidFill>
          <a:ln/>
          <a:effectLst>
            <a:outerShdw blurRad="88900" dist="25400" dir="5400000" algn="bl" rotWithShape="0">
              <a:srgbClr val="9AB0C4">
                <a:alpha val="18000"/>
              </a:srgbClr>
            </a:outerShdw>
          </a:effectLst>
        </p:spPr>
        <p:txBody>
          <a:bodyPr/>
          <a:lstStyle/>
          <a:p>
            <a:endParaRPr lang="vi-VN"/>
          </a:p>
        </p:txBody>
      </p:sp>
      <p:sp>
        <p:nvSpPr>
          <p:cNvPr id="22" name="Text 20"/>
          <p:cNvSpPr/>
          <p:nvPr/>
        </p:nvSpPr>
        <p:spPr>
          <a:xfrm>
            <a:off x="7315200" y="2011680"/>
            <a:ext cx="4023360" cy="320040"/>
          </a:xfrm>
          <a:prstGeom prst="rect">
            <a:avLst/>
          </a:prstGeom>
          <a:noFill/>
          <a:ln/>
        </p:spPr>
        <p:txBody>
          <a:bodyPr wrap="square" lIns="0" tIns="0" rIns="0" bIns="0" rtlCol="0" anchor="ctr"/>
          <a:lstStyle/>
          <a:p>
            <a:pPr marL="0" indent="0">
              <a:buNone/>
            </a:pPr>
            <a:r>
              <a:rPr lang="en-US" sz="1300" b="1" kern="0" spc="250" dirty="0">
                <a:solidFill>
                  <a:srgbClr val="22D3EE"/>
                </a:solidFill>
                <a:latin typeface="Trebuchet MS" pitchFamily="34" charset="0"/>
                <a:ea typeface="Trebuchet MS" pitchFamily="34" charset="-122"/>
                <a:cs typeface="Trebuchet MS" pitchFamily="34" charset="-120"/>
              </a:rPr>
              <a:t>CONCLUSION</a:t>
            </a:r>
            <a:endParaRPr lang="en-US" sz="1300" dirty="0"/>
          </a:p>
        </p:txBody>
      </p:sp>
      <p:sp>
        <p:nvSpPr>
          <p:cNvPr id="23" name="Shape 21"/>
          <p:cNvSpPr/>
          <p:nvPr/>
        </p:nvSpPr>
        <p:spPr>
          <a:xfrm>
            <a:off x="7315200" y="2395728"/>
            <a:ext cx="1097280" cy="45720"/>
          </a:xfrm>
          <a:prstGeom prst="rect">
            <a:avLst/>
          </a:prstGeom>
          <a:solidFill>
            <a:srgbClr val="0EA5C4"/>
          </a:solidFill>
          <a:ln/>
        </p:spPr>
        <p:txBody>
          <a:bodyPr/>
          <a:lstStyle/>
          <a:p>
            <a:endParaRPr lang="vi-VN"/>
          </a:p>
        </p:txBody>
      </p:sp>
      <p:sp>
        <p:nvSpPr>
          <p:cNvPr id="24" name="Text 22"/>
          <p:cNvSpPr/>
          <p:nvPr/>
        </p:nvSpPr>
        <p:spPr>
          <a:xfrm>
            <a:off x="7315200" y="2651760"/>
            <a:ext cx="4069080" cy="1371600"/>
          </a:xfrm>
          <a:prstGeom prst="rect">
            <a:avLst/>
          </a:prstGeom>
          <a:noFill/>
          <a:ln/>
        </p:spPr>
        <p:txBody>
          <a:bodyPr wrap="square" lIns="0" tIns="0" rIns="0" bIns="0" rtlCol="0" anchor="t"/>
          <a:lstStyle/>
          <a:p>
            <a:pPr marL="0" indent="0" algn="l">
              <a:lnSpc>
                <a:spcPct val="105000"/>
              </a:lnSpc>
              <a:buNone/>
            </a:pPr>
            <a:r>
              <a:rPr lang="en-US" sz="1900" b="1">
                <a:solidFill>
                  <a:srgbClr val="FFFFFF"/>
                </a:solidFill>
                <a:latin typeface="Trebuchet MS" pitchFamily="34" charset="0"/>
                <a:ea typeface="Trebuchet MS" pitchFamily="34" charset="-122"/>
                <a:cs typeface="Trebuchet MS" pitchFamily="34" charset="-120"/>
              </a:rPr>
              <a:t>With </a:t>
            </a:r>
            <a:r>
              <a:rPr lang="en-US" sz="1900" b="1" dirty="0">
                <a:solidFill>
                  <a:srgbClr val="FFFFFF"/>
                </a:solidFill>
                <a:latin typeface="Trebuchet MS" pitchFamily="34" charset="0"/>
                <a:ea typeface="Trebuchet MS" pitchFamily="34" charset="-122"/>
                <a:cs typeface="Trebuchet MS" pitchFamily="34" charset="-120"/>
              </a:rPr>
              <a:t>the soil moisture sensor </a:t>
            </a:r>
            <a:r>
              <a:rPr lang="en-US" sz="1900" b="1">
                <a:solidFill>
                  <a:srgbClr val="FFFFFF"/>
                </a:solidFill>
                <a:latin typeface="Trebuchet MS" pitchFamily="34" charset="0"/>
                <a:ea typeface="Trebuchet MS" pitchFamily="34" charset="-122"/>
                <a:cs typeface="Trebuchet MS" pitchFamily="34" charset="-120"/>
              </a:rPr>
              <a:t>now working reliably</a:t>
            </a:r>
            <a:r>
              <a:rPr lang="en-US" sz="1900" b="1" dirty="0">
                <a:solidFill>
                  <a:srgbClr val="FFFFFF"/>
                </a:solidFill>
                <a:latin typeface="Trebuchet MS" pitchFamily="34" charset="0"/>
                <a:ea typeface="Trebuchet MS" pitchFamily="34" charset="-122"/>
                <a:cs typeface="Trebuchet MS" pitchFamily="34" charset="-120"/>
              </a:rPr>
              <a:t>, the main system logic is </a:t>
            </a:r>
            <a:r>
              <a:rPr lang="en-US" sz="1900" b="1">
                <a:solidFill>
                  <a:srgbClr val="FFFFFF"/>
                </a:solidFill>
                <a:latin typeface="Trebuchet MS" pitchFamily="34" charset="0"/>
                <a:ea typeface="Trebuchet MS" pitchFamily="34" charset="-122"/>
                <a:cs typeface="Trebuchet MS" pitchFamily="34" charset="-120"/>
              </a:rPr>
              <a:t>fully functional</a:t>
            </a:r>
            <a:r>
              <a:rPr lang="en-US" sz="1900" b="1" dirty="0">
                <a:solidFill>
                  <a:srgbClr val="FFFFFF"/>
                </a:solidFill>
                <a:latin typeface="Trebuchet MS" pitchFamily="34" charset="0"/>
                <a:ea typeface="Trebuchet MS" pitchFamily="34" charset="-122"/>
                <a:cs typeface="Trebuchet MS" pitchFamily="34" charset="-120"/>
              </a:rPr>
              <a:t>.</a:t>
            </a:r>
            <a:endParaRPr lang="en-US" sz="1900" dirty="0"/>
          </a:p>
        </p:txBody>
      </p:sp>
      <p:sp>
        <p:nvSpPr>
          <p:cNvPr id="25" name="Text 23"/>
          <p:cNvSpPr/>
          <p:nvPr/>
        </p:nvSpPr>
        <p:spPr>
          <a:xfrm>
            <a:off x="7315200" y="4251960"/>
            <a:ext cx="4069080" cy="1463040"/>
          </a:xfrm>
          <a:prstGeom prst="rect">
            <a:avLst/>
          </a:prstGeom>
          <a:noFill/>
          <a:ln/>
        </p:spPr>
        <p:txBody>
          <a:bodyPr wrap="square" lIns="0" tIns="0" rIns="0" bIns="0" rtlCol="0" anchor="t"/>
          <a:lstStyle/>
          <a:p>
            <a:pPr marL="0" indent="0" algn="l">
              <a:lnSpc>
                <a:spcPct val="105000"/>
              </a:lnSpc>
              <a:buNone/>
            </a:pPr>
            <a:r>
              <a:rPr lang="en-US" sz="1400" dirty="0">
                <a:solidFill>
                  <a:srgbClr val="C7D6E6"/>
                </a:solidFill>
                <a:latin typeface="Calibri" pitchFamily="34" charset="0"/>
                <a:ea typeface="Calibri" pitchFamily="34" charset="-122"/>
                <a:cs typeface="Calibri" pitchFamily="34" charset="-120"/>
              </a:rPr>
              <a:t>The project successfully demonstrates an automatic watering system using ESP32, relay control, display monitoring, and pump activation.</a:t>
            </a:r>
            <a:endParaRPr lang="en-US" sz="1400" dirty="0"/>
          </a:p>
        </p:txBody>
      </p:sp>
      <p:sp>
        <p:nvSpPr>
          <p:cNvPr id="26" name="Text 24"/>
          <p:cNvSpPr/>
          <p:nvPr/>
        </p:nvSpPr>
        <p:spPr>
          <a:xfrm>
            <a:off x="548640" y="6437376"/>
            <a:ext cx="6400800" cy="274320"/>
          </a:xfrm>
          <a:prstGeom prst="rect">
            <a:avLst/>
          </a:prstGeom>
          <a:noFill/>
          <a:ln/>
        </p:spPr>
        <p:txBody>
          <a:bodyPr wrap="square" lIns="0" tIns="0" rIns="0" bIns="0" rtlCol="0" anchor="ctr"/>
          <a:lstStyle/>
          <a:p>
            <a:pPr marL="0" indent="0" algn="l">
              <a:buNone/>
            </a:pPr>
            <a:r>
              <a:rPr lang="en-US" sz="950" dirty="0">
                <a:solidFill>
                  <a:srgbClr val="9DB4CC"/>
                </a:solidFill>
                <a:latin typeface="Calibri" pitchFamily="34" charset="0"/>
                <a:ea typeface="Calibri" pitchFamily="34" charset="-122"/>
                <a:cs typeface="Calibri" pitchFamily="34" charset="-120"/>
              </a:rPr>
              <a:t>IoT Smart Watering System</a:t>
            </a:r>
            <a:endParaRPr lang="en-US" sz="950" dirty="0"/>
          </a:p>
        </p:txBody>
      </p:sp>
      <p:sp>
        <p:nvSpPr>
          <p:cNvPr id="27" name="Text 25"/>
          <p:cNvSpPr/>
          <p:nvPr/>
        </p:nvSpPr>
        <p:spPr>
          <a:xfrm>
            <a:off x="10637215" y="6437376"/>
            <a:ext cx="1005840" cy="274320"/>
          </a:xfrm>
          <a:prstGeom prst="rect">
            <a:avLst/>
          </a:prstGeom>
          <a:noFill/>
          <a:ln/>
        </p:spPr>
        <p:txBody>
          <a:bodyPr wrap="square" lIns="0" tIns="0" rIns="0" bIns="0" rtlCol="0" anchor="ctr"/>
          <a:lstStyle/>
          <a:p>
            <a:pPr marL="0" indent="0" algn="r">
              <a:buNone/>
            </a:pPr>
            <a:r>
              <a:rPr lang="en-US" sz="950">
                <a:solidFill>
                  <a:srgbClr val="9DB4CC"/>
                </a:solidFill>
                <a:latin typeface="Calibri" pitchFamily="34" charset="0"/>
                <a:ea typeface="Calibri" pitchFamily="34" charset="-122"/>
                <a:cs typeface="Calibri" pitchFamily="34" charset="-120"/>
              </a:rPr>
              <a:t>7 </a:t>
            </a:r>
            <a:r>
              <a:rPr lang="en-US" sz="950" dirty="0">
                <a:solidFill>
                  <a:srgbClr val="9DB4CC"/>
                </a:solidFill>
                <a:latin typeface="Calibri" pitchFamily="34" charset="0"/>
                <a:ea typeface="Calibri" pitchFamily="34" charset="-122"/>
                <a:cs typeface="Calibri" pitchFamily="34" charset="-120"/>
              </a:rPr>
              <a:t>/ </a:t>
            </a:r>
            <a:r>
              <a:rPr lang="en-US" sz="950">
                <a:solidFill>
                  <a:srgbClr val="9DB4CC"/>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969</Words>
  <Application>Microsoft Office PowerPoint</Application>
  <PresentationFormat>Màn hình rộng</PresentationFormat>
  <Paragraphs>140</Paragraphs>
  <Slides>7</Slides>
  <Notes>7</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7</vt:i4>
      </vt:variant>
    </vt:vector>
  </HeadingPairs>
  <TitlesOfParts>
    <vt:vector size="11" baseType="lpstr">
      <vt:lpstr>Arial</vt:lpstr>
      <vt:lpstr>Calibri</vt:lpstr>
      <vt:lpstr>Trebuchet MS</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Quang Kha Tran</dc:creator>
  <cp:lastModifiedBy>Quang Kha Tran</cp:lastModifiedBy>
  <cp:revision>1</cp:revision>
  <dcterms:created xsi:type="dcterms:W3CDTF">2026-06-22T03:56:58Z</dcterms:created>
  <dcterms:modified xsi:type="dcterms:W3CDTF">2026-06-22T05:47:23Z</dcterms:modified>
</cp:coreProperties>
</file>